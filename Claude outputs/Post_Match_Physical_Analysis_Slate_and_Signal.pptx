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D_TITLE_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52006"/>
            <a:ext cx="25603" cy="76810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3" name="Shape 1"/>
          <p:cNvSpPr/>
          <p:nvPr/>
        </p:nvSpPr>
        <p:spPr>
          <a:xfrm>
            <a:off x="587045" y="6413602"/>
            <a:ext cx="25603" cy="115214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4" name="Shape 2"/>
          <p:cNvSpPr/>
          <p:nvPr/>
        </p:nvSpPr>
        <p:spPr>
          <a:xfrm>
            <a:off x="625450" y="6426403"/>
            <a:ext cx="25603" cy="102413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5" name="Shape 3"/>
          <p:cNvSpPr/>
          <p:nvPr/>
        </p:nvSpPr>
        <p:spPr>
          <a:xfrm>
            <a:off x="663854" y="6323990"/>
            <a:ext cx="25603" cy="204826"/>
          </a:xfrm>
          <a:prstGeom prst="rect">
            <a:avLst/>
          </a:prstGeom>
          <a:solidFill>
            <a:srgbClr val="009999"/>
          </a:solidFill>
          <a:ln/>
        </p:spPr>
      </p:sp>
      <p:sp>
        <p:nvSpPr>
          <p:cNvPr id="6" name="Shape 4"/>
          <p:cNvSpPr/>
          <p:nvPr/>
        </p:nvSpPr>
        <p:spPr>
          <a:xfrm>
            <a:off x="702259" y="6400800"/>
            <a:ext cx="25603" cy="128016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7" name="Shape 5"/>
          <p:cNvSpPr/>
          <p:nvPr/>
        </p:nvSpPr>
        <p:spPr>
          <a:xfrm>
            <a:off x="740664" y="6439205"/>
            <a:ext cx="25603" cy="89611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8" name="Shape 6"/>
          <p:cNvSpPr/>
          <p:nvPr/>
        </p:nvSpPr>
        <p:spPr>
          <a:xfrm>
            <a:off x="779069" y="6464808"/>
            <a:ext cx="25603" cy="64008"/>
          </a:xfrm>
          <a:prstGeom prst="rect">
            <a:avLst/>
          </a:prstGeom>
          <a:solidFill>
            <a:srgbClr val="B8C0C9"/>
          </a:solidFill>
          <a:ln/>
        </p:spPr>
      </p:sp>
      <p:sp>
        <p:nvSpPr>
          <p:cNvPr id="9" name="Text 7"/>
          <p:cNvSpPr/>
          <p:nvPr/>
        </p:nvSpPr>
        <p:spPr>
          <a:xfrm>
            <a:off x="877824" y="6355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36D7A"/>
                </a:solidFill>
              </a:rPr>
              <a:t>Michael Davies</a:t>
            </a:r>
            <a:endParaRPr lang="en-US" sz="1100" dirty="0"/>
          </a:p>
        </p:txBody>
      </p:sp>
      <p:sp>
        <p:nvSpPr>
          <p:cNvPr id="10" name="Text 8"/>
          <p:cNvSpPr/>
          <p:nvPr>
            <p:ph idx="108" type="title" hasCustomPrompt="1"/>
          </p:nvPr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Slide title states the takeaway</a:t>
            </a:r>
            <a:endParaRPr lang="en-US" sz="3000" dirty="0"/>
          </a:p>
        </p:txBody>
      </p:sp>
      <p:sp>
        <p:nvSpPr>
          <p:cNvPr id="11" name="Text 8"/>
          <p:cNvSpPr/>
          <p:nvPr>
            <p:ph idx="109" type="body" hasCustomPrompt="1"/>
          </p:nvPr>
        </p:nvSpPr>
        <p:spPr>
          <a:xfrm>
            <a:off x="548640" y="1024128"/>
            <a:ext cx="11094415" cy="32918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Subtitle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8"/>
          <p:cNvSpPr/>
          <p:nvPr>
            <p:ph idx="108" type="title" hasCustomPrompt="1"/>
          </p:nvPr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Two post-match reports, each with a different job</a:t>
            </a:r>
            <a:endParaRPr lang="en-US" sz="3000" dirty="0"/>
          </a:p>
        </p:txBody>
      </p:sp>
      <p:sp>
        <p:nvSpPr>
          <p:cNvPr id="3" name="Text 8"/>
          <p:cNvSpPr/>
          <p:nvPr>
            <p:ph idx="109" type="body" hasCustomPrompt="1"/>
          </p:nvPr>
        </p:nvSpPr>
        <p:spPr>
          <a:xfrm>
            <a:off x="548640" y="1024128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Post-match physical analysis: what staff can expect, and when</a:t>
            </a:r>
            <a:endParaRPr lang="en-US" sz="1600" dirty="0"/>
          </a:p>
        </p:txBody>
      </p:sp>
      <p:sp>
        <p:nvSpPr>
          <p:cNvPr id="4" name="GPS provider report header"/>
          <p:cNvSpPr/>
          <p:nvPr/>
        </p:nvSpPr>
        <p:spPr>
          <a:xfrm>
            <a:off x="548640" y="155448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1F2A37"/>
          </a:solidFill>
          <a:ln/>
        </p:spPr>
      </p:sp>
      <p:sp>
        <p:nvSpPr>
          <p:cNvPr id="5" name="GPS provider report title"/>
          <p:cNvSpPr txBox="1"/>
          <p:nvPr/>
        </p:nvSpPr>
        <p:spPr>
          <a:xfrm>
            <a:off x="749808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GPS provider report</a:t>
            </a:r>
            <a:endParaRPr lang="en-US" sz="1600" dirty="0"/>
          </a:p>
        </p:txBody>
      </p:sp>
      <p:sp>
        <p:nvSpPr>
          <p:cNvPr id="6" name="Broadcast tracking provider report header"/>
          <p:cNvSpPr/>
          <p:nvPr/>
        </p:nvSpPr>
        <p:spPr>
          <a:xfrm>
            <a:off x="7071055" y="1554480"/>
            <a:ext cx="4572000" cy="365760"/>
          </a:xfrm>
          <a:prstGeom prst="roundRect">
            <a:avLst>
              <a:gd name="adj" fmla="val 12500"/>
            </a:avLst>
          </a:prstGeom>
          <a:solidFill>
            <a:srgbClr val="1F2A37"/>
          </a:solidFill>
          <a:ln/>
        </p:spPr>
      </p:sp>
      <p:sp>
        <p:nvSpPr>
          <p:cNvPr id="7" name="Broadcast tracking provider report title"/>
          <p:cNvSpPr txBox="1"/>
          <p:nvPr/>
        </p:nvSpPr>
        <p:spPr>
          <a:xfrm>
            <a:off x="7272223" y="15544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Broadcast tracking provider report</a:t>
            </a:r>
            <a:endParaRPr lang="en-US" sz="1600" dirty="0"/>
          </a:p>
        </p:txBody>
      </p:sp>
      <p:sp>
        <p:nvSpPr>
          <p:cNvPr id="8" name="GPS availability"/>
          <p:cNvSpPr/>
          <p:nvPr/>
        </p:nvSpPr>
        <p:spPr>
          <a:xfrm>
            <a:off x="548640" y="199339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5F7F9"/>
          </a:solidFill>
          <a:ln/>
        </p:spPr>
      </p:sp>
      <p:sp>
        <p:nvSpPr>
          <p:cNvPr id="9" name="Broadcast tracking availability"/>
          <p:cNvSpPr/>
          <p:nvPr/>
        </p:nvSpPr>
        <p:spPr>
          <a:xfrm>
            <a:off x="7071055" y="1993392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F5F7F9"/>
          </a:solidFill>
          <a:ln/>
        </p:spPr>
      </p:sp>
      <p:pic>
        <p:nvPicPr>
          <p:cNvPr id="10" name="Clock icon" descr="C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039112"/>
            <a:ext cx="256032" cy="256032"/>
          </a:xfrm>
          <a:prstGeom prst="rect">
            <a:avLst/>
          </a:prstGeom>
        </p:spPr>
      </p:pic>
      <p:pic>
        <p:nvPicPr>
          <p:cNvPr id="11" name="Clock icon" descr="Clock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5647" y="203911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78992" y="1993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Within </a:t>
            </a:r>
            <a:pPr indent="0" marL="0">
              <a:buNone/>
            </a:pPr>
            <a:r>
              <a:rPr lang="en-US" sz="1400" b="1" dirty="0">
                <a:solidFill>
                  <a:srgbClr val="007A7A"/>
                </a:solidFill>
              </a:rPr>
              <a:t>3 hours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 of the game ending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7601407" y="1993392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Within </a:t>
            </a:r>
            <a:pPr indent="0" marL="0">
              <a:buNone/>
            </a:pPr>
            <a:r>
              <a:rPr lang="en-US" sz="1400" b="1" dirty="0">
                <a:solidFill>
                  <a:srgbClr val="007A7A"/>
                </a:solidFill>
              </a:rPr>
              <a:t>24–36 hours</a:t>
            </a:r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 of the game ending</a:t>
            </a:r>
            <a:endParaRPr lang="en-US" sz="1400" dirty="0"/>
          </a:p>
        </p:txBody>
      </p:sp>
      <p:sp>
        <p:nvSpPr>
          <p:cNvPr id="14" name="GPS insight 1"/>
          <p:cNvSpPr/>
          <p:nvPr/>
        </p:nvSpPr>
        <p:spPr>
          <a:xfrm>
            <a:off x="548640" y="2414016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15" name="Team values compared to norms icon" descr="Team values compared to norm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441448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78992" y="24140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Team values compared to norms</a:t>
            </a:r>
            <a:endParaRPr lang="en-US" sz="1400" dirty="0"/>
          </a:p>
        </p:txBody>
      </p:sp>
      <p:sp>
        <p:nvSpPr>
          <p:cNvPr id="17" name="GPS insight 2"/>
          <p:cNvSpPr/>
          <p:nvPr/>
        </p:nvSpPr>
        <p:spPr>
          <a:xfrm>
            <a:off x="548640" y="2770632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18" name="1st / 2nd half compared to norms icon" descr="1st / 2nd half compared to norm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279806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078992" y="2770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1st / 2nd half compared to norms</a:t>
            </a:r>
            <a:endParaRPr lang="en-US" sz="1400" dirty="0"/>
          </a:p>
        </p:txBody>
      </p:sp>
      <p:sp>
        <p:nvSpPr>
          <p:cNvPr id="20" name="GPS insight 3"/>
          <p:cNvSpPr/>
          <p:nvPr/>
        </p:nvSpPr>
        <p:spPr>
          <a:xfrm>
            <a:off x="548640" y="3127248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21" name="15-minute period breakdowns icon" descr="15-minute period breakdowns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3154680"/>
            <a:ext cx="256032" cy="256032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078992" y="31272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15-minute period breakdowns</a:t>
            </a:r>
            <a:endParaRPr lang="en-US" sz="1400" dirty="0"/>
          </a:p>
        </p:txBody>
      </p:sp>
      <p:sp>
        <p:nvSpPr>
          <p:cNvPr id="23" name="GPS insight 4"/>
          <p:cNvSpPr/>
          <p:nvPr/>
        </p:nvSpPr>
        <p:spPr>
          <a:xfrm>
            <a:off x="548640" y="3483864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24" name="Game-on-game trends icon" descr="Game-on-game trends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511296"/>
            <a:ext cx="256032" cy="256032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1078992" y="34838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Game-on-game trends</a:t>
            </a:r>
            <a:endParaRPr lang="en-US" sz="1400" dirty="0"/>
          </a:p>
        </p:txBody>
      </p:sp>
      <p:sp>
        <p:nvSpPr>
          <p:cNvPr id="26" name="GPS insight 5"/>
          <p:cNvSpPr/>
          <p:nvPr/>
        </p:nvSpPr>
        <p:spPr>
          <a:xfrm>
            <a:off x="548640" y="3840480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27" name="Individual player breakdowns icon" descr="Individual player breakdowns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867912"/>
            <a:ext cx="256032" cy="256032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1078992" y="3840480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Individual player breakdowns</a:t>
            </a:r>
            <a:endParaRPr lang="en-US" sz="1400" dirty="0"/>
          </a:p>
        </p:txBody>
      </p:sp>
      <p:sp>
        <p:nvSpPr>
          <p:cNvPr id="29" name="GPS insight 6"/>
          <p:cNvSpPr/>
          <p:nvPr/>
        </p:nvSpPr>
        <p:spPr>
          <a:xfrm>
            <a:off x="548640" y="4197096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30" name="In and out of possession breakdowns icon" descr="In and out of possession breakdowns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224528"/>
            <a:ext cx="256032" cy="256032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1078992" y="419709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In and out of possession breakdowns</a:t>
            </a:r>
            <a:endParaRPr lang="en-US" sz="1400" dirty="0"/>
          </a:p>
        </p:txBody>
      </p:sp>
      <p:sp>
        <p:nvSpPr>
          <p:cNvPr id="32" name="Broadcast tracking insight 1"/>
          <p:cNvSpPr/>
          <p:nvPr/>
        </p:nvSpPr>
        <p:spPr>
          <a:xfrm>
            <a:off x="7071055" y="2414016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33" name="Match-specific comparison to opponent icon" descr="Match-specific comparison to opponent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35647" y="2441448"/>
            <a:ext cx="256032" cy="256032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7601407" y="2414016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Match-specific comparison to opponent</a:t>
            </a:r>
            <a:endParaRPr lang="en-US" sz="1400" dirty="0"/>
          </a:p>
        </p:txBody>
      </p:sp>
      <p:sp>
        <p:nvSpPr>
          <p:cNvPr id="35" name="Broadcast tracking insight 2"/>
          <p:cNvSpPr/>
          <p:nvPr/>
        </p:nvSpPr>
        <p:spPr>
          <a:xfrm>
            <a:off x="7071055" y="2770632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36" name="Game-on-game comparison to opponent icon" descr="Game-on-game comparison to opponent icon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35647" y="2798064"/>
            <a:ext cx="256032" cy="256032"/>
          </a:xfrm>
          <a:prstGeom prst="rect">
            <a:avLst/>
          </a:prstGeom>
        </p:spPr>
      </p:pic>
      <p:sp>
        <p:nvSpPr>
          <p:cNvPr id="37" name="Text 25"/>
          <p:cNvSpPr txBox="1"/>
          <p:nvPr/>
        </p:nvSpPr>
        <p:spPr>
          <a:xfrm>
            <a:off x="7601407" y="2770632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Game-on-game comparison to opponent</a:t>
            </a:r>
            <a:endParaRPr lang="en-US" sz="1400" dirty="0"/>
          </a:p>
        </p:txBody>
      </p:sp>
      <p:sp>
        <p:nvSpPr>
          <p:cNvPr id="38" name="Broadcast tracking insight 3"/>
          <p:cNvSpPr/>
          <p:nvPr/>
        </p:nvSpPr>
        <p:spPr>
          <a:xfrm>
            <a:off x="7071055" y="3127248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39" name="Physical metrics compared to league icon" descr="Physical metrics compared to league icon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235647" y="3154680"/>
            <a:ext cx="256032" cy="256032"/>
          </a:xfrm>
          <a:prstGeom prst="rect">
            <a:avLst/>
          </a:prstGeom>
        </p:spPr>
      </p:pic>
      <p:sp>
        <p:nvSpPr>
          <p:cNvPr id="40" name="Text 27"/>
          <p:cNvSpPr txBox="1"/>
          <p:nvPr/>
        </p:nvSpPr>
        <p:spPr>
          <a:xfrm>
            <a:off x="7601407" y="3127248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Physical metrics compared to league</a:t>
            </a:r>
            <a:endParaRPr lang="en-US" sz="1400" dirty="0"/>
          </a:p>
        </p:txBody>
      </p:sp>
      <p:sp>
        <p:nvSpPr>
          <p:cNvPr id="41" name="Broadcast tracking insight 4"/>
          <p:cNvSpPr/>
          <p:nvPr/>
        </p:nvSpPr>
        <p:spPr>
          <a:xfrm>
            <a:off x="7071055" y="3483864"/>
            <a:ext cx="4572000" cy="310896"/>
          </a:xfrm>
          <a:prstGeom prst="roundRect">
            <a:avLst>
              <a:gd name="adj" fmla="val 14706"/>
            </a:avLst>
          </a:prstGeom>
          <a:solidFill>
            <a:srgbClr val="F5F7F9"/>
          </a:solidFill>
          <a:ln/>
        </p:spPr>
      </p:sp>
      <p:pic>
        <p:nvPicPr>
          <p:cNvPr id="42" name="Run types compared to league icon" descr="Run types compared to league icon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235647" y="3511296"/>
            <a:ext cx="256032" cy="256032"/>
          </a:xfrm>
          <a:prstGeom prst="rect">
            <a:avLst/>
          </a:prstGeom>
        </p:spPr>
      </p:pic>
      <p:sp>
        <p:nvSpPr>
          <p:cNvPr id="43" name="Text 29"/>
          <p:cNvSpPr txBox="1"/>
          <p:nvPr/>
        </p:nvSpPr>
        <p:spPr>
          <a:xfrm>
            <a:off x="7601407" y="3483864"/>
            <a:ext cx="3886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A37"/>
                </a:solidFill>
              </a:rPr>
              <a:t>Run types compared to league</a:t>
            </a:r>
            <a:endParaRPr lang="en-US" sz="1400" dirty="0"/>
          </a:p>
        </p:txBody>
      </p:sp>
      <p:sp>
        <p:nvSpPr>
          <p:cNvPr id="44" name="GPS relative values"/>
          <p:cNvSpPr/>
          <p:nvPr/>
        </p:nvSpPr>
        <p:spPr>
          <a:xfrm>
            <a:off x="548640" y="4581144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E0F4F4"/>
          </a:solidFill>
          <a:ln/>
        </p:spPr>
      </p:sp>
      <p:sp>
        <p:nvSpPr>
          <p:cNvPr id="45" name="Broadcast tracking relative values"/>
          <p:cNvSpPr/>
          <p:nvPr/>
        </p:nvSpPr>
        <p:spPr>
          <a:xfrm>
            <a:off x="7071055" y="4581144"/>
            <a:ext cx="4572000" cy="347472"/>
          </a:xfrm>
          <a:prstGeom prst="roundRect">
            <a:avLst>
              <a:gd name="adj" fmla="val 13158"/>
            </a:avLst>
          </a:prstGeom>
          <a:solidFill>
            <a:srgbClr val="E0F4F4"/>
          </a:solidFill>
          <a:ln/>
        </p:spPr>
      </p:sp>
      <p:pic>
        <p:nvPicPr>
          <p:cNvPr id="46" name="Stopwatch icon" descr="Stopwatch icon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3232" y="4626864"/>
            <a:ext cx="256032" cy="256032"/>
          </a:xfrm>
          <a:prstGeom prst="rect">
            <a:avLst/>
          </a:prstGeom>
        </p:spPr>
      </p:pic>
      <p:pic>
        <p:nvPicPr>
          <p:cNvPr id="47" name="Ball icon" descr="Ball icon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235647" y="4626864"/>
            <a:ext cx="256032" cy="256032"/>
          </a:xfrm>
          <a:prstGeom prst="rect">
            <a:avLst/>
          </a:prstGeom>
        </p:spPr>
      </p:pic>
      <p:sp>
        <p:nvSpPr>
          <p:cNvPr id="48" name="Text 32"/>
          <p:cNvSpPr txBox="1"/>
          <p:nvPr/>
        </p:nvSpPr>
        <p:spPr>
          <a:xfrm>
            <a:off x="1078992" y="45811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Relative to minutes played</a:t>
            </a:r>
            <a:endParaRPr lang="en-US" sz="1400" dirty="0"/>
          </a:p>
        </p:txBody>
      </p:sp>
      <p:sp>
        <p:nvSpPr>
          <p:cNvPr id="49" name="Text 33"/>
          <p:cNvSpPr txBox="1"/>
          <p:nvPr/>
        </p:nvSpPr>
        <p:spPr>
          <a:xfrm>
            <a:off x="7601407" y="45811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A37"/>
                </a:solidFill>
              </a:rPr>
              <a:t>Relative to time spent in possession</a:t>
            </a:r>
            <a:endParaRPr lang="en-US" sz="1400" dirty="0"/>
          </a:p>
        </p:txBody>
      </p:sp>
      <p:sp>
        <p:nvSpPr>
          <p:cNvPr id="50" name="GPS metrics"/>
          <p:cNvSpPr/>
          <p:nvPr/>
        </p:nvSpPr>
        <p:spPr>
          <a:xfrm>
            <a:off x="548640" y="5001768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5F7F9"/>
          </a:solidFill>
          <a:ln/>
        </p:spPr>
      </p:sp>
      <p:sp>
        <p:nvSpPr>
          <p:cNvPr id="51" name="Broadcast tracking metrics"/>
          <p:cNvSpPr/>
          <p:nvPr/>
        </p:nvSpPr>
        <p:spPr>
          <a:xfrm>
            <a:off x="7071055" y="5001768"/>
            <a:ext cx="4572000" cy="640080"/>
          </a:xfrm>
          <a:prstGeom prst="roundRect">
            <a:avLst>
              <a:gd name="adj" fmla="val 7143"/>
            </a:avLst>
          </a:prstGeom>
          <a:solidFill>
            <a:srgbClr val="F5F7F9"/>
          </a:solidFill>
          <a:ln/>
        </p:spPr>
      </p:sp>
      <p:pic>
        <p:nvPicPr>
          <p:cNvPr id="52" name="Clipboard icon" descr="Clipboard icon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3232" y="5193792"/>
            <a:ext cx="256032" cy="256032"/>
          </a:xfrm>
          <a:prstGeom prst="rect">
            <a:avLst/>
          </a:prstGeom>
        </p:spPr>
      </p:pic>
      <p:pic>
        <p:nvPicPr>
          <p:cNvPr id="53" name="Clipboard icon" descr="Clipboard icon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235647" y="5193792"/>
            <a:ext cx="256032" cy="256032"/>
          </a:xfrm>
          <a:prstGeom prst="rect">
            <a:avLst/>
          </a:prstGeom>
        </p:spPr>
      </p:pic>
      <p:sp>
        <p:nvSpPr>
          <p:cNvPr id="54" name="Text 36"/>
          <p:cNvSpPr txBox="1"/>
          <p:nvPr/>
        </p:nvSpPr>
        <p:spPr>
          <a:xfrm>
            <a:off x="1078992" y="5001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Total distance, metreage, HS / VHS / sprint / &gt;90% distance, sprint / &gt;90% efforts, peak speed, accelerations and decelerations, explosive efforts</a:t>
            </a:r>
            <a:endParaRPr lang="en-US" sz="1200" dirty="0"/>
          </a:p>
        </p:txBody>
      </p:sp>
      <p:sp>
        <p:nvSpPr>
          <p:cNvPr id="55" name="Text 37"/>
          <p:cNvSpPr txBox="1"/>
          <p:nvPr/>
        </p:nvSpPr>
        <p:spPr>
          <a:xfrm>
            <a:off x="7601407" y="5001768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5866"/>
                </a:solidFill>
              </a:rPr>
              <a:t>Total distance, VHS / sprint / HI distance, sprint efforts, run types, effective playing time, time in possession, minutes played</a:t>
            </a:r>
            <a:endParaRPr lang="en-US" sz="1200" dirty="0"/>
          </a:p>
        </p:txBody>
      </p:sp>
      <p:sp>
        <p:nvSpPr>
          <p:cNvPr id="56" name="GPS focus"/>
          <p:cNvSpPr/>
          <p:nvPr/>
        </p:nvSpPr>
        <p:spPr>
          <a:xfrm>
            <a:off x="548640" y="5715000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sp>
        <p:nvSpPr>
          <p:cNvPr id="57" name="Broadcast tracking focus"/>
          <p:cNvSpPr/>
          <p:nvPr/>
        </p:nvSpPr>
        <p:spPr>
          <a:xfrm>
            <a:off x="7071055" y="5715000"/>
            <a:ext cx="4572000" cy="438912"/>
          </a:xfrm>
          <a:prstGeom prst="roundRect">
            <a:avLst>
              <a:gd name="adj" fmla="val 10417"/>
            </a:avLst>
          </a:prstGeom>
          <a:solidFill>
            <a:srgbClr val="FFFFFF"/>
          </a:solidFill>
          <a:ln w="12700">
            <a:solidFill>
              <a:srgbClr val="D9DEE4"/>
            </a:solidFill>
            <a:prstDash val="solid"/>
          </a:ln>
        </p:spPr>
      </p:sp>
      <p:pic>
        <p:nvPicPr>
          <p:cNvPr id="58" name="Team icon" descr="Team icon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13232" y="5806440"/>
            <a:ext cx="256032" cy="256032"/>
          </a:xfrm>
          <a:prstGeom prst="rect">
            <a:avLst/>
          </a:prstGeom>
        </p:spPr>
      </p:pic>
      <p:pic>
        <p:nvPicPr>
          <p:cNvPr id="59" name="Pitch icon" descr="Pitch icon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5647" y="5806440"/>
            <a:ext cx="256032" cy="256032"/>
          </a:xfrm>
          <a:prstGeom prst="rect">
            <a:avLst/>
          </a:prstGeom>
        </p:spPr>
      </p:pic>
      <p:sp>
        <p:nvSpPr>
          <p:cNvPr id="60" name="Text 40"/>
          <p:cNvSpPr txBox="1"/>
          <p:nvPr/>
        </p:nvSpPr>
        <p:spPr>
          <a:xfrm>
            <a:off x="1078992" y="57150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Focuses on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team and player workload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 relative to norms and minutes played</a:t>
            </a:r>
            <a:endParaRPr lang="en-US" sz="1300" dirty="0"/>
          </a:p>
        </p:txBody>
      </p:sp>
      <p:sp>
        <p:nvSpPr>
          <p:cNvPr id="61" name="Text 41"/>
          <p:cNvSpPr txBox="1"/>
          <p:nvPr/>
        </p:nvSpPr>
        <p:spPr>
          <a:xfrm>
            <a:off x="7601407" y="5715000"/>
            <a:ext cx="3886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Focuses on </a:t>
            </a:r>
            <a:pPr indent="0" marL="0">
              <a:buNone/>
            </a:pPr>
            <a:r>
              <a:rPr lang="en-US" sz="1300" b="1" dirty="0">
                <a:solidFill>
                  <a:srgbClr val="1F2A37"/>
                </a:solidFill>
              </a:rPr>
              <a:t>opponent, context, possession and league</a:t>
            </a:r>
            <a:pPr indent="0" marL="0">
              <a:buNone/>
            </a:pPr>
            <a:r>
              <a:rPr lang="en-US" sz="1300" dirty="0">
                <a:solidFill>
                  <a:srgbClr val="1F2A37"/>
                </a:solidFill>
              </a:rPr>
              <a:t> comparisons</a:t>
            </a:r>
            <a:endParaRPr lang="en-US" sz="1300" dirty="0"/>
          </a:p>
        </p:txBody>
      </p:sp>
      <p:sp>
        <p:nvSpPr>
          <p:cNvPr id="62" name="Availability label"/>
          <p:cNvSpPr txBox="1"/>
          <p:nvPr/>
        </p:nvSpPr>
        <p:spPr>
          <a:xfrm>
            <a:off x="5394960" y="1984248"/>
            <a:ext cx="1401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Availability</a:t>
            </a:r>
            <a:endParaRPr lang="en-US" sz="1400" dirty="0"/>
          </a:p>
        </p:txBody>
      </p:sp>
      <p:sp>
        <p:nvSpPr>
          <p:cNvPr id="63" name="Shape 43"/>
          <p:cNvSpPr/>
          <p:nvPr/>
        </p:nvSpPr>
        <p:spPr>
          <a:xfrm>
            <a:off x="5166360" y="2167128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64" name="Shape 44"/>
          <p:cNvSpPr/>
          <p:nvPr/>
        </p:nvSpPr>
        <p:spPr>
          <a:xfrm>
            <a:off x="6842455" y="2167128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65" name="Relative values label"/>
          <p:cNvSpPr txBox="1"/>
          <p:nvPr/>
        </p:nvSpPr>
        <p:spPr>
          <a:xfrm>
            <a:off x="5394960" y="4572000"/>
            <a:ext cx="1401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Relative values</a:t>
            </a:r>
            <a:endParaRPr lang="en-US" sz="1400" dirty="0"/>
          </a:p>
        </p:txBody>
      </p:sp>
      <p:sp>
        <p:nvSpPr>
          <p:cNvPr id="66" name="Shape 46"/>
          <p:cNvSpPr/>
          <p:nvPr/>
        </p:nvSpPr>
        <p:spPr>
          <a:xfrm>
            <a:off x="5166360" y="4754880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67" name="Shape 47"/>
          <p:cNvSpPr/>
          <p:nvPr/>
        </p:nvSpPr>
        <p:spPr>
          <a:xfrm>
            <a:off x="6842455" y="4754880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68" name="Metrics included label"/>
          <p:cNvSpPr txBox="1"/>
          <p:nvPr/>
        </p:nvSpPr>
        <p:spPr>
          <a:xfrm>
            <a:off x="5394960" y="5138928"/>
            <a:ext cx="1401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Metrics included</a:t>
            </a:r>
            <a:endParaRPr lang="en-US" sz="1400" dirty="0"/>
          </a:p>
        </p:txBody>
      </p:sp>
      <p:sp>
        <p:nvSpPr>
          <p:cNvPr id="69" name="Shape 49"/>
          <p:cNvSpPr/>
          <p:nvPr/>
        </p:nvSpPr>
        <p:spPr>
          <a:xfrm>
            <a:off x="5166360" y="5321808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0" name="Shape 50"/>
          <p:cNvSpPr/>
          <p:nvPr/>
        </p:nvSpPr>
        <p:spPr>
          <a:xfrm>
            <a:off x="6842455" y="5321808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1" name="Focus label"/>
          <p:cNvSpPr txBox="1"/>
          <p:nvPr/>
        </p:nvSpPr>
        <p:spPr>
          <a:xfrm>
            <a:off x="5394960" y="5751576"/>
            <a:ext cx="1401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Focus</a:t>
            </a:r>
            <a:endParaRPr lang="en-US" sz="1400" dirty="0"/>
          </a:p>
        </p:txBody>
      </p:sp>
      <p:sp>
        <p:nvSpPr>
          <p:cNvPr id="72" name="Shape 52"/>
          <p:cNvSpPr/>
          <p:nvPr/>
        </p:nvSpPr>
        <p:spPr>
          <a:xfrm>
            <a:off x="5166360" y="5934456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3" name="Shape 53"/>
          <p:cNvSpPr/>
          <p:nvPr/>
        </p:nvSpPr>
        <p:spPr>
          <a:xfrm>
            <a:off x="6842455" y="5934456"/>
            <a:ext cx="182880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4" name="Graphical insights label"/>
          <p:cNvSpPr txBox="1"/>
          <p:nvPr/>
        </p:nvSpPr>
        <p:spPr>
          <a:xfrm>
            <a:off x="5394960" y="3140964"/>
            <a:ext cx="140177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E5866"/>
                </a:solidFill>
              </a:rPr>
              <a:t>Graphical insights</a:t>
            </a:r>
            <a:endParaRPr lang="en-US" sz="1400" dirty="0"/>
          </a:p>
        </p:txBody>
      </p:sp>
      <p:sp>
        <p:nvSpPr>
          <p:cNvPr id="75" name="Shape 55"/>
          <p:cNvSpPr/>
          <p:nvPr/>
        </p:nvSpPr>
        <p:spPr>
          <a:xfrm>
            <a:off x="5276088" y="2569464"/>
            <a:ext cx="0" cy="178308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6" name="Shape 56"/>
          <p:cNvSpPr/>
          <p:nvPr/>
        </p:nvSpPr>
        <p:spPr>
          <a:xfrm>
            <a:off x="5166360" y="2569464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7" name="Shape 57"/>
          <p:cNvSpPr/>
          <p:nvPr/>
        </p:nvSpPr>
        <p:spPr>
          <a:xfrm>
            <a:off x="5166360" y="2926080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8" name="Shape 58"/>
          <p:cNvSpPr/>
          <p:nvPr/>
        </p:nvSpPr>
        <p:spPr>
          <a:xfrm>
            <a:off x="5166360" y="3282696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79" name="Shape 59"/>
          <p:cNvSpPr/>
          <p:nvPr/>
        </p:nvSpPr>
        <p:spPr>
          <a:xfrm>
            <a:off x="5166360" y="3639312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0" name="Shape 60"/>
          <p:cNvSpPr/>
          <p:nvPr/>
        </p:nvSpPr>
        <p:spPr>
          <a:xfrm>
            <a:off x="5166360" y="3995928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1" name="Shape 61"/>
          <p:cNvSpPr/>
          <p:nvPr/>
        </p:nvSpPr>
        <p:spPr>
          <a:xfrm>
            <a:off x="5166360" y="4352544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2" name="Shape 62"/>
          <p:cNvSpPr/>
          <p:nvPr/>
        </p:nvSpPr>
        <p:spPr>
          <a:xfrm>
            <a:off x="6915607" y="2569464"/>
            <a:ext cx="0" cy="1069848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3" name="Shape 63"/>
          <p:cNvSpPr/>
          <p:nvPr/>
        </p:nvSpPr>
        <p:spPr>
          <a:xfrm>
            <a:off x="6915607" y="2569464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4" name="Shape 64"/>
          <p:cNvSpPr/>
          <p:nvPr/>
        </p:nvSpPr>
        <p:spPr>
          <a:xfrm>
            <a:off x="6915607" y="2926080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5" name="Shape 65"/>
          <p:cNvSpPr/>
          <p:nvPr/>
        </p:nvSpPr>
        <p:spPr>
          <a:xfrm>
            <a:off x="6915607" y="3282696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86" name="Shape 66"/>
          <p:cNvSpPr/>
          <p:nvPr/>
        </p:nvSpPr>
        <p:spPr>
          <a:xfrm>
            <a:off x="6915607" y="3639312"/>
            <a:ext cx="109728" cy="0"/>
          </a:xfrm>
          <a:prstGeom prst="line">
            <a:avLst/>
          </a:prstGeom>
          <a:noFill/>
          <a:ln w="12700">
            <a:solidFill>
              <a:srgbClr val="B8C0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11535" y="6355080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100">
                <a:solidFill>
                  <a:srgbClr val="636D7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 and Signal">
  <a:themeElements>
    <a:clrScheme name="Slate and Signal">
      <a:dk1>
        <a:srgbClr val="1F2A37"/>
      </a:dk1>
      <a:lt1>
        <a:srgbClr val="FFFFFF"/>
      </a:lt1>
      <a:dk2>
        <a:srgbClr val="4E5866"/>
      </a:dk2>
      <a:lt2>
        <a:srgbClr val="F5F7F9"/>
      </a:lt2>
      <a:accent1>
        <a:srgbClr val="009999"/>
      </a:accent1>
      <a:accent2>
        <a:srgbClr val="4C5FD5"/>
      </a:accent2>
      <a:accent3>
        <a:srgbClr val="D8702E"/>
      </a:accent3>
      <a:accent4>
        <a:srgbClr val="B8478A"/>
      </a:accent4>
      <a:accent5>
        <a:srgbClr val="8A5A3B"/>
      </a:accent5>
      <a:accent6>
        <a:srgbClr val="3F8FCB"/>
      </a:accent6>
      <a:hlink>
        <a:srgbClr val="007A7A"/>
      </a:hlink>
      <a:folHlink>
        <a:srgbClr val="4E5866"/>
      </a:folHlink>
    </a:clrScheme>
    <a:fontScheme name="Slate and Signal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Post-match physical analysis</dc:title>
  <dc:subject>PptxGenJS Presentation</dc:subject>
  <dc:creator>Michael Davies</dc:creator>
  <cp:lastModifiedBy>Michael Davies</cp:lastModifiedBy>
  <cp:revision>1</cp:revision>
  <dcterms:created xsi:type="dcterms:W3CDTF">2026-10-15T17:08:25Z</dcterms:created>
  <dcterms:modified xsi:type="dcterms:W3CDTF">2026-10-15T17:08:25Z</dcterms:modified>
</cp:coreProperties>
</file>