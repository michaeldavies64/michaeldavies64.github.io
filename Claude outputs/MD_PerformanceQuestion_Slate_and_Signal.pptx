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D_TITLE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3447288"/>
            <a:ext cx="237744" cy="713232"/>
          </a:xfrm>
          <a:prstGeom prst="rect">
            <a:avLst/>
          </a:prstGeom>
          <a:solidFill>
            <a:srgbClr val="374150"/>
          </a:solidFill>
          <a:ln/>
        </p:spPr>
      </p:sp>
      <p:sp>
        <p:nvSpPr>
          <p:cNvPr id="3" name="Shape 1"/>
          <p:cNvSpPr/>
          <p:nvPr/>
        </p:nvSpPr>
        <p:spPr>
          <a:xfrm>
            <a:off x="5980176" y="3090672"/>
            <a:ext cx="237744" cy="1069848"/>
          </a:xfrm>
          <a:prstGeom prst="rect">
            <a:avLst/>
          </a:prstGeom>
          <a:solidFill>
            <a:srgbClr val="374150"/>
          </a:solidFill>
          <a:ln/>
        </p:spPr>
      </p:sp>
      <p:sp>
        <p:nvSpPr>
          <p:cNvPr id="4" name="Shape 2"/>
          <p:cNvSpPr/>
          <p:nvPr/>
        </p:nvSpPr>
        <p:spPr>
          <a:xfrm>
            <a:off x="6336792" y="3209544"/>
            <a:ext cx="237744" cy="950976"/>
          </a:xfrm>
          <a:prstGeom prst="rect">
            <a:avLst/>
          </a:prstGeom>
          <a:solidFill>
            <a:srgbClr val="374150"/>
          </a:solidFill>
          <a:ln/>
        </p:spPr>
      </p:sp>
      <p:sp>
        <p:nvSpPr>
          <p:cNvPr id="5" name="Shape 3"/>
          <p:cNvSpPr/>
          <p:nvPr/>
        </p:nvSpPr>
        <p:spPr>
          <a:xfrm>
            <a:off x="6693408" y="2258568"/>
            <a:ext cx="237744" cy="1901952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6" name="Shape 4"/>
          <p:cNvSpPr/>
          <p:nvPr/>
        </p:nvSpPr>
        <p:spPr>
          <a:xfrm>
            <a:off x="7050024" y="2971800"/>
            <a:ext cx="237744" cy="1188720"/>
          </a:xfrm>
          <a:prstGeom prst="rect">
            <a:avLst/>
          </a:prstGeom>
          <a:solidFill>
            <a:srgbClr val="374150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3328416"/>
            <a:ext cx="237744" cy="832104"/>
          </a:xfrm>
          <a:prstGeom prst="rect">
            <a:avLst/>
          </a:prstGeom>
          <a:solidFill>
            <a:srgbClr val="374150"/>
          </a:solidFill>
          <a:ln/>
        </p:spPr>
      </p:sp>
      <p:sp>
        <p:nvSpPr>
          <p:cNvPr id="8" name="Shape 6"/>
          <p:cNvSpPr/>
          <p:nvPr/>
        </p:nvSpPr>
        <p:spPr>
          <a:xfrm>
            <a:off x="7763256" y="3566160"/>
            <a:ext cx="237744" cy="594360"/>
          </a:xfrm>
          <a:prstGeom prst="rect">
            <a:avLst/>
          </a:prstGeom>
          <a:solidFill>
            <a:srgbClr val="374150"/>
          </a:solidFill>
          <a:ln/>
        </p:spPr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1097280"/>
            <a:ext cx="49377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Deck title</a:t>
            </a:r>
            <a:endParaRPr lang="en-US" sz="3600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2788920"/>
            <a:ext cx="49377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B8C0C9"/>
                </a:solidFill>
              </a:defRPr>
            </a:lvl1pPr>
          </a:lstStyle>
          <a:p>
            <a:pPr indent="0" marL="0">
              <a:buNone/>
            </a:pPr>
            <a:r>
              <a:rPr lang="en-US" sz="1500" dirty="0">
                <a:solidFill>
                  <a:srgbClr val="B8C0C9"/>
                </a:solidFill>
              </a:rPr>
              <a:t>Subtitle</a:t>
            </a:r>
            <a:endParaRPr lang="en-US" sz="15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4160520"/>
            <a:ext cx="49377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B8C0C9"/>
                </a:solidFill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B8C0C9"/>
                </a:solidFill>
              </a:rPr>
              <a:t>Michael Davies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D_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08830"/>
            <a:ext cx="20117" cy="60350"/>
          </a:xfrm>
          <a:prstGeom prst="rect">
            <a:avLst/>
          </a:prstGeom>
          <a:solidFill>
            <a:srgbClr val="B8C0C9"/>
          </a:solidFill>
          <a:ln/>
        </p:spPr>
      </p:sp>
      <p:sp>
        <p:nvSpPr>
          <p:cNvPr id="3" name="Shape 1"/>
          <p:cNvSpPr/>
          <p:nvPr/>
        </p:nvSpPr>
        <p:spPr>
          <a:xfrm>
            <a:off x="487375" y="4778654"/>
            <a:ext cx="20117" cy="90526"/>
          </a:xfrm>
          <a:prstGeom prst="rect">
            <a:avLst/>
          </a:prstGeom>
          <a:solidFill>
            <a:srgbClr val="B8C0C9"/>
          </a:solidFill>
          <a:ln/>
        </p:spPr>
      </p:sp>
      <p:sp>
        <p:nvSpPr>
          <p:cNvPr id="4" name="Shape 2"/>
          <p:cNvSpPr/>
          <p:nvPr/>
        </p:nvSpPr>
        <p:spPr>
          <a:xfrm>
            <a:off x="517550" y="4788713"/>
            <a:ext cx="20117" cy="80467"/>
          </a:xfrm>
          <a:prstGeom prst="rect">
            <a:avLst/>
          </a:prstGeom>
          <a:solidFill>
            <a:srgbClr val="B8C0C9"/>
          </a:solidFill>
          <a:ln/>
        </p:spPr>
      </p:sp>
      <p:sp>
        <p:nvSpPr>
          <p:cNvPr id="5" name="Shape 3"/>
          <p:cNvSpPr/>
          <p:nvPr/>
        </p:nvSpPr>
        <p:spPr>
          <a:xfrm>
            <a:off x="547726" y="4708246"/>
            <a:ext cx="20117" cy="160934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6" name="Shape 4"/>
          <p:cNvSpPr/>
          <p:nvPr/>
        </p:nvSpPr>
        <p:spPr>
          <a:xfrm>
            <a:off x="577901" y="4768596"/>
            <a:ext cx="20117" cy="100584"/>
          </a:xfrm>
          <a:prstGeom prst="rect">
            <a:avLst/>
          </a:prstGeom>
          <a:solidFill>
            <a:srgbClr val="B8C0C9"/>
          </a:solidFill>
          <a:ln/>
        </p:spPr>
      </p:sp>
      <p:sp>
        <p:nvSpPr>
          <p:cNvPr id="7" name="Shape 5"/>
          <p:cNvSpPr/>
          <p:nvPr/>
        </p:nvSpPr>
        <p:spPr>
          <a:xfrm>
            <a:off x="608076" y="4798771"/>
            <a:ext cx="20117" cy="70409"/>
          </a:xfrm>
          <a:prstGeom prst="rect">
            <a:avLst/>
          </a:prstGeom>
          <a:solidFill>
            <a:srgbClr val="B8C0C9"/>
          </a:solidFill>
          <a:ln/>
        </p:spPr>
      </p:sp>
      <p:sp>
        <p:nvSpPr>
          <p:cNvPr id="8" name="Shape 6"/>
          <p:cNvSpPr/>
          <p:nvPr/>
        </p:nvSpPr>
        <p:spPr>
          <a:xfrm>
            <a:off x="638251" y="4818888"/>
            <a:ext cx="20117" cy="50292"/>
          </a:xfrm>
          <a:prstGeom prst="rect">
            <a:avLst/>
          </a:prstGeom>
          <a:solidFill>
            <a:srgbClr val="B8C0C9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47594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D7A"/>
                </a:solidFill>
              </a:rPr>
              <a:t>Michael Davies</a:t>
            </a:r>
            <a:endParaRPr lang="en-US" sz="900" dirty="0"/>
          </a:p>
        </p:txBody>
      </p:sp>
      <p:sp>
        <p:nvSpPr>
          <p:cNvPr id="10" name="Text 8"/>
          <p:cNvSpPr/>
          <p:nvPr>
            <p:ph idx="108" type="title" hasCustomPrompt="1"/>
          </p:nvPr>
        </p:nvSpPr>
        <p:spPr>
          <a:xfrm>
            <a:off x="457200" y="292608"/>
            <a:ext cx="8229600" cy="6766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Slide title states the takeaway</a:t>
            </a:r>
            <a:endParaRPr lang="en-US" sz="22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Subtitle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94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D_CLOSING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96112"/>
            <a:ext cx="82296" cy="246888"/>
          </a:xfrm>
          <a:prstGeom prst="rect">
            <a:avLst/>
          </a:prstGeom>
          <a:solidFill>
            <a:srgbClr val="374150"/>
          </a:solidFill>
          <a:ln/>
        </p:spPr>
      </p:sp>
      <p:sp>
        <p:nvSpPr>
          <p:cNvPr id="3" name="Shape 1"/>
          <p:cNvSpPr/>
          <p:nvPr/>
        </p:nvSpPr>
        <p:spPr>
          <a:xfrm>
            <a:off x="580644" y="772668"/>
            <a:ext cx="82296" cy="370332"/>
          </a:xfrm>
          <a:prstGeom prst="rect">
            <a:avLst/>
          </a:prstGeom>
          <a:solidFill>
            <a:srgbClr val="374150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" y="813816"/>
            <a:ext cx="82296" cy="329184"/>
          </a:xfrm>
          <a:prstGeom prst="rect">
            <a:avLst/>
          </a:prstGeom>
          <a:solidFill>
            <a:srgbClr val="374150"/>
          </a:solidFill>
          <a:ln/>
        </p:spPr>
      </p:sp>
      <p:sp>
        <p:nvSpPr>
          <p:cNvPr id="5" name="Shape 3"/>
          <p:cNvSpPr/>
          <p:nvPr/>
        </p:nvSpPr>
        <p:spPr>
          <a:xfrm>
            <a:off x="827532" y="484632"/>
            <a:ext cx="82296" cy="658368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731520"/>
            <a:ext cx="82296" cy="411480"/>
          </a:xfrm>
          <a:prstGeom prst="rect">
            <a:avLst/>
          </a:prstGeom>
          <a:solidFill>
            <a:srgbClr val="374150"/>
          </a:solidFill>
          <a:ln/>
        </p:spPr>
      </p:sp>
      <p:sp>
        <p:nvSpPr>
          <p:cNvPr id="7" name="Shape 5"/>
          <p:cNvSpPr/>
          <p:nvPr/>
        </p:nvSpPr>
        <p:spPr>
          <a:xfrm>
            <a:off x="1074420" y="854964"/>
            <a:ext cx="82296" cy="288036"/>
          </a:xfrm>
          <a:prstGeom prst="rect">
            <a:avLst/>
          </a:prstGeom>
          <a:solidFill>
            <a:srgbClr val="374150"/>
          </a:solidFill>
          <a:ln/>
        </p:spPr>
      </p:sp>
      <p:sp>
        <p:nvSpPr>
          <p:cNvPr id="8" name="Shape 6"/>
          <p:cNvSpPr/>
          <p:nvPr/>
        </p:nvSpPr>
        <p:spPr>
          <a:xfrm>
            <a:off x="1197864" y="937260"/>
            <a:ext cx="82296" cy="205740"/>
          </a:xfrm>
          <a:prstGeom prst="rect">
            <a:avLst/>
          </a:prstGeom>
          <a:solidFill>
            <a:srgbClr val="374150"/>
          </a:solidFill>
          <a:ln/>
        </p:spPr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1371600"/>
            <a:ext cx="777240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Closing message</a:t>
            </a:r>
            <a:endParaRPr lang="en-US" sz="3000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2560320"/>
            <a:ext cx="777240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400"/>
              </a:spcAft>
              <a:buNone/>
              <a:defRPr lang="en-US" sz="1500" dirty="0">
                <a:solidFill>
                  <a:srgbClr val="B8C0C9"/>
                </a:solidFill>
              </a:defRPr>
            </a:lvl1pPr>
          </a:lstStyle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8C0C9"/>
                </a:solidFill>
              </a:rPr>
              <a:t>Next steps</a:t>
            </a:r>
            <a:endParaRPr lang="en-US" sz="15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4206240"/>
            <a:ext cx="7772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B8C0C9"/>
                </a:solidFill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B8C0C9"/>
                </a:solidFill>
              </a:rPr>
              <a:t>Contact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94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457200" y="109728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Rebuilding match physical insight after relegation</a:t>
            </a:r>
            <a:endParaRPr lang="en-US" sz="3600" dirty="0"/>
          </a:p>
        </p:txBody>
      </p:sp>
      <p:sp>
        <p:nvSpPr>
          <p:cNvPr id="3" name="Text 7"/>
          <p:cNvSpPr/>
          <p:nvPr>
            <p:ph idx="108" type="body" hasCustomPrompt="1"/>
          </p:nvPr>
        </p:nvSpPr>
        <p:spPr>
          <a:xfrm>
            <a:off x="457200" y="27889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C0C9"/>
                </a:solidFill>
              </a:rPr>
              <a:t>How I built a contextualised GPS pipeline to replace a lost league data feed</a:t>
            </a:r>
            <a:endParaRPr lang="en-US" sz="1500" dirty="0"/>
          </a:p>
        </p:txBody>
      </p:sp>
      <p:sp>
        <p:nvSpPr>
          <p:cNvPr id="4" name="Text 7"/>
          <p:cNvSpPr/>
          <p:nvPr>
            <p:ph idx="109" type="body" hasCustomPrompt="1"/>
          </p:nvPr>
        </p:nvSpPr>
        <p:spPr>
          <a:xfrm>
            <a:off x="45720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9"/>
                </a:solidFill>
              </a:rPr>
              <a:t>Michael Davies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29260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Relegation removed the league data feed that match insight depended on</a:t>
            </a:r>
            <a:endParaRPr lang="en-US" sz="22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performance question</a:t>
            </a:r>
            <a:endParaRPr lang="en-US" sz="1300" dirty="0"/>
          </a:p>
        </p:txBody>
      </p:sp>
      <p:sp>
        <p:nvSpPr>
          <p:cNvPr id="4" name="Context bullets"/>
          <p:cNvSpPr txBox="1"/>
          <p:nvPr/>
        </p:nvSpPr>
        <p:spPr>
          <a:xfrm>
            <a:off x="457200" y="1417320"/>
            <a:ext cx="5120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</a:rPr>
              <a:t>The league supplied match physical data in the division above; the new division does not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</a:rPr>
              <a:t>The club’s legacy data ecosystem was lost with it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</a:rPr>
              <a:t>The club had no systems or processes ready to replace it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</a:rPr>
              <a:t>Practitioners and stakeholders still expected the same match insight</a:t>
            </a:r>
            <a:endParaRPr lang="en-US" sz="1400" dirty="0"/>
          </a:p>
        </p:txBody>
      </p:sp>
      <p:sp>
        <p:nvSpPr>
          <p:cNvPr id="5" name="Question card"/>
          <p:cNvSpPr/>
          <p:nvPr/>
        </p:nvSpPr>
        <p:spPr>
          <a:xfrm>
            <a:off x="5943600" y="1417320"/>
            <a:ext cx="2743200" cy="3017520"/>
          </a:xfrm>
          <a:prstGeom prst="roundRect">
            <a:avLst>
              <a:gd name="adj" fmla="val 2000"/>
            </a:avLst>
          </a:prstGeom>
          <a:solidFill>
            <a:srgbClr val="E0F4F4"/>
          </a:solidFill>
          <a:ln/>
        </p:spPr>
      </p:sp>
      <p:sp>
        <p:nvSpPr>
          <p:cNvPr id="6" name="Question label"/>
          <p:cNvSpPr txBox="1"/>
          <p:nvPr/>
        </p:nvSpPr>
        <p:spPr>
          <a:xfrm>
            <a:off x="61722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7A"/>
                </a:solidFill>
              </a:rPr>
              <a:t>The question</a:t>
            </a:r>
            <a:endParaRPr lang="en-US" sz="1100" dirty="0"/>
          </a:p>
        </p:txBody>
      </p:sp>
      <p:sp>
        <p:nvSpPr>
          <p:cNvPr id="7" name="Question text"/>
          <p:cNvSpPr txBox="1"/>
          <p:nvPr/>
        </p:nvSpPr>
        <p:spPr>
          <a:xfrm>
            <a:off x="6172200" y="19659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</a:rPr>
              <a:t>How can practitioners and stakeholders keep receiving match physical insight, with context, without a league data feed?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94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29260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Relegation cost a mature data ecosystem but left two sources to build on</a:t>
            </a:r>
            <a:endParaRPr lang="en-US" sz="2200" dirty="0"/>
          </a:p>
        </p:txBody>
      </p:sp>
      <p:sp>
        <p:nvSpPr>
          <p:cNvPr id="3" name="What was lost card"/>
          <p:cNvSpPr/>
          <p:nvPr/>
        </p:nvSpPr>
        <p:spPr>
          <a:xfrm>
            <a:off x="457200" y="1417320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F5F7F9"/>
          </a:solidFill>
          <a:ln/>
        </p:spPr>
      </p:sp>
      <p:sp>
        <p:nvSpPr>
          <p:cNvPr id="4" name="What remained card"/>
          <p:cNvSpPr/>
          <p:nvPr/>
        </p:nvSpPr>
        <p:spPr>
          <a:xfrm>
            <a:off x="4709160" y="1417320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F5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5866"/>
                </a:solidFill>
              </a:rPr>
              <a:t>What was lost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A7A"/>
                </a:solidFill>
              </a:rPr>
              <a:t>What remained</a:t>
            </a:r>
            <a:endParaRPr lang="en-US" sz="1400" dirty="0"/>
          </a:p>
        </p:txBody>
      </p:sp>
      <p:sp>
        <p:nvSpPr>
          <p:cNvPr id="7" name="Lost bullets"/>
          <p:cNvSpPr txBox="1"/>
          <p:nvPr/>
        </p:nvSpPr>
        <p:spPr>
          <a:xfrm>
            <a:off x="685800" y="201168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E5866"/>
                </a:solidFill>
              </a:rPr>
              <a:t>Match-to-match comparison for the team and for each player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E5866"/>
                </a:solidFill>
              </a:rPr>
              <a:t>Comparison with the opposition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E5866"/>
                </a:solidFill>
              </a:rPr>
              <a:t>Season-long benchmarking against the rest of the league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E5866"/>
                </a:solidFill>
              </a:rPr>
              <a:t>In- and out-of-possession context, which shapes how every number is read</a:t>
            </a:r>
            <a:endParaRPr lang="en-US" sz="1300" dirty="0"/>
          </a:p>
        </p:txBody>
      </p:sp>
      <p:sp>
        <p:nvSpPr>
          <p:cNvPr id="8" name="Remained bullets"/>
          <p:cNvSpPr txBox="1"/>
          <p:nvPr/>
        </p:nvSpPr>
        <p:spPr>
          <a:xfrm>
            <a:off x="4937760" y="201168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F2A37"/>
                </a:solidFill>
              </a:rPr>
              <a:t>GPS provider: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A37"/>
                </a:solidFill>
              </a:rPr>
              <a:t>a well-defined capture system, used mainly in training rather than matches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F2A37"/>
                </a:solidFill>
              </a:rPr>
              <a:t>GPS provider API pipeline: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A37"/>
                </a:solidFill>
              </a:rPr>
              <a:t>already built for an earlier project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F2A37"/>
                </a:solidFill>
              </a:rPr>
              <a:t>Broadcast tracking provider: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1F2A37"/>
                </a:solidFill>
              </a:rPr>
              <a:t>league-wide tracking data, with speed zones that differ from the GPS provider’s</a:t>
            </a:r>
            <a:endParaRPr lang="en-US" sz="1300" dirty="0"/>
          </a:p>
        </p:txBody>
      </p:sp>
      <p:sp>
        <p:nvSpPr>
          <p:cNvPr id="9" name="Text 8"/>
          <p:cNvSpPr/>
          <p:nvPr>
            <p:ph idx="109" type="body" hasCustomPrompt="1"/>
          </p:nvPr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94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29260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Two reports, each with its own purpose, replace the lost insight</a:t>
            </a:r>
            <a:endParaRPr lang="en-US" sz="22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 designed each report around the decisions its data can support</a:t>
            </a:r>
            <a:endParaRPr lang="en-US" sz="1300" dirty="0"/>
          </a:p>
        </p:txBody>
      </p:sp>
      <p:sp>
        <p:nvSpPr>
          <p:cNvPr id="4" name="Contextualised GPS report card"/>
          <p:cNvSpPr/>
          <p:nvPr/>
        </p:nvSpPr>
        <p:spPr>
          <a:xfrm>
            <a:off x="457200" y="1417320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F5F7F9"/>
          </a:solidFill>
          <a:ln/>
        </p:spPr>
      </p:sp>
      <p:sp>
        <p:nvSpPr>
          <p:cNvPr id="5" name="Contextualised GPS report heading"/>
          <p:cNvSpPr txBox="1"/>
          <p:nvPr/>
        </p:nvSpPr>
        <p:spPr>
          <a:xfrm>
            <a:off x="685800" y="15727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Contextualised GPS report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D7A"/>
                </a:solidFill>
              </a:rPr>
              <a:t>Question it answers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579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How hard did each player work, and in which phase of play?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94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D7A"/>
                </a:solidFill>
              </a:rPr>
              <a:t>Data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614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GPS provider data, split using Opta match events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1729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D7A"/>
                </a:solidFill>
              </a:rPr>
              <a:t>Ready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649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7A7A"/>
                </a:solidFill>
              </a:rPr>
              <a:t>Within 2 hours of the match finishing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77647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D7A"/>
                </a:solidFill>
              </a:rPr>
              <a:t>Used for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9684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Player decisions, such as MD+1 training</a:t>
            </a:r>
            <a:endParaRPr lang="en-US" sz="1200" dirty="0"/>
          </a:p>
        </p:txBody>
      </p:sp>
      <p:sp>
        <p:nvSpPr>
          <p:cNvPr id="14" name="Broadcast tracking provider trend report card"/>
          <p:cNvSpPr/>
          <p:nvPr/>
        </p:nvSpPr>
        <p:spPr>
          <a:xfrm>
            <a:off x="4709160" y="1417320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F5F7F9"/>
          </a:solidFill>
          <a:ln/>
        </p:spPr>
      </p:sp>
      <p:sp>
        <p:nvSpPr>
          <p:cNvPr id="15" name="Broadcast tracking provider trend report heading"/>
          <p:cNvSpPr txBox="1"/>
          <p:nvPr/>
        </p:nvSpPr>
        <p:spPr>
          <a:xfrm>
            <a:off x="4937760" y="15727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Broadcast tracking provider trend report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19659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D7A"/>
                </a:solidFill>
              </a:rPr>
              <a:t>Question it answers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1579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Was the team higher than the opposition? How does it compare with the league?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5694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D7A"/>
                </a:solidFill>
              </a:rPr>
              <a:t>Data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7614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Broadcast tracking provider data, read at team level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1729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D7A"/>
                </a:solidFill>
              </a:rPr>
              <a:t>Ready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3649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24–36 hours after the match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77647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D7A"/>
                </a:solidFill>
              </a:rPr>
              <a:t>Used for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96849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Context only, not decisions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94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29260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broadcast tracking provider uses different speed zones, so it was used for team trends only</a:t>
            </a:r>
            <a:endParaRPr lang="en-US" sz="22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speed zone problem</a:t>
            </a:r>
            <a:endParaRPr lang="en-US" sz="1300" dirty="0"/>
          </a:p>
        </p:txBody>
      </p:sp>
      <p:sp>
        <p:nvSpPr>
          <p:cNvPr id="4" name="GPS provider card"/>
          <p:cNvSpPr/>
          <p:nvPr/>
        </p:nvSpPr>
        <p:spPr>
          <a:xfrm>
            <a:off x="457200" y="1417320"/>
            <a:ext cx="2377440" cy="1143000"/>
          </a:xfrm>
          <a:prstGeom prst="roundRect">
            <a:avLst>
              <a:gd name="adj" fmla="val 4800"/>
            </a:avLst>
          </a:prstGeom>
          <a:solidFill>
            <a:srgbClr val="F5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81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GPS provider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866"/>
                </a:solidFill>
              </a:rPr>
              <a:t>Speed zones set for the in-house GPS reporting</a:t>
            </a:r>
            <a:endParaRPr lang="en-US" sz="1200" dirty="0"/>
          </a:p>
        </p:txBody>
      </p:sp>
      <p:sp>
        <p:nvSpPr>
          <p:cNvPr id="7" name="Tracking provider card"/>
          <p:cNvSpPr/>
          <p:nvPr/>
        </p:nvSpPr>
        <p:spPr>
          <a:xfrm>
            <a:off x="3337560" y="1417320"/>
            <a:ext cx="2377440" cy="1143000"/>
          </a:xfrm>
          <a:prstGeom prst="roundRect">
            <a:avLst>
              <a:gd name="adj" fmla="val 4800"/>
            </a:avLst>
          </a:prstGeom>
          <a:solidFill>
            <a:srgbClr val="F5F7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5819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7"/>
                </a:solidFill>
              </a:rPr>
              <a:t>Tracking provider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866"/>
                </a:solidFill>
              </a:rPr>
              <a:t>Its own speed-zone thresholds, applied across the league</a:t>
            </a:r>
            <a:endParaRPr lang="en-US" sz="1200" dirty="0"/>
          </a:p>
        </p:txBody>
      </p:sp>
      <p:sp>
        <p:nvSpPr>
          <p:cNvPr id="10" name="Team trends card"/>
          <p:cNvSpPr/>
          <p:nvPr/>
        </p:nvSpPr>
        <p:spPr>
          <a:xfrm>
            <a:off x="6217920" y="141732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E0F4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5819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7A"/>
                </a:solidFill>
              </a:rPr>
              <a:t>Team trends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866"/>
                </a:solidFill>
              </a:rPr>
              <a:t>Compared by direction, not as absolute values</a:t>
            </a:r>
            <a:endParaRPr lang="en-US" sz="1200" dirty="0"/>
          </a:p>
        </p:txBody>
      </p:sp>
      <p:sp>
        <p:nvSpPr>
          <p:cNvPr id="13" name="Not equal"/>
          <p:cNvSpPr txBox="1"/>
          <p:nvPr/>
        </p:nvSpPr>
        <p:spPr>
          <a:xfrm>
            <a:off x="2834640" y="14173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36D7A"/>
                </a:solidFill>
              </a:rPr>
              <a:t>≠</a:t>
            </a:r>
            <a:endParaRPr lang="en-US" sz="2600" dirty="0"/>
          </a:p>
        </p:txBody>
      </p:sp>
      <p:sp>
        <p:nvSpPr>
          <p:cNvPr id="14" name="Arrow"/>
          <p:cNvSpPr txBox="1"/>
          <p:nvPr/>
        </p:nvSpPr>
        <p:spPr>
          <a:xfrm>
            <a:off x="5715000" y="1417320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A7A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How the data was used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2724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</a:rPr>
              <a:t>Values for individual players were not reported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</a:rPr>
              <a:t>Questions stayed at team level: was the team higher than the opposition, and where does it sit in the league?</a:t>
            </a:r>
            <a:endParaRPr lang="en-US" sz="1300" dirty="0"/>
          </a:p>
        </p:txBody>
      </p:sp>
      <p:sp>
        <p:nvSpPr>
          <p:cNvPr id="17" name="Footnote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D7A"/>
                </a:solidFill>
              </a:rPr>
              <a:t>Because the zone thresholds differ, broadcast tracking provider distances are not directly comparable with GPS provider outputs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94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29260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 possession state model tags every moment of the match</a:t>
            </a:r>
            <a:endParaRPr lang="en-US" sz="22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 designed it to split play into in possession, out of possession and ball out of play</a:t>
            </a:r>
            <a:endParaRPr lang="en-US" sz="1300" dirty="0"/>
          </a:p>
        </p:txBody>
      </p:sp>
      <p:sp>
        <p:nvSpPr>
          <p:cNvPr id="4" name="Opta match events step"/>
          <p:cNvSpPr/>
          <p:nvPr/>
        </p:nvSpPr>
        <p:spPr>
          <a:xfrm>
            <a:off x="457200" y="1417320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F5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76072" y="1527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</a:rPr>
              <a:t>Opta match events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19293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E5866"/>
                </a:solidFill>
              </a:rPr>
              <a:t>Event feed, processed straight after the game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38528" y="1975104"/>
            <a:ext cx="164592" cy="0"/>
          </a:xfrm>
          <a:prstGeom prst="line">
            <a:avLst/>
          </a:prstGeom>
          <a:noFill/>
          <a:ln w="15875">
            <a:solidFill>
              <a:srgbClr val="B8C0C9"/>
            </a:solidFill>
            <a:prstDash val="solid"/>
            <a:tailEnd type="triangle"/>
          </a:ln>
        </p:spPr>
      </p:sp>
      <p:sp>
        <p:nvSpPr>
          <p:cNvPr id="8" name="Possession state function step"/>
          <p:cNvSpPr/>
          <p:nvPr/>
        </p:nvSpPr>
        <p:spPr>
          <a:xfrm>
            <a:off x="2157984" y="1417320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F5F7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76856" y="1527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</a:rPr>
              <a:t>Possession state function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276856" y="19293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E5866"/>
                </a:solidFill>
              </a:rPr>
              <a:t>Reads each event and assigns a state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39312" y="1975104"/>
            <a:ext cx="164592" cy="0"/>
          </a:xfrm>
          <a:prstGeom prst="line">
            <a:avLst/>
          </a:prstGeom>
          <a:noFill/>
          <a:ln w="15875">
            <a:solidFill>
              <a:srgbClr val="B8C0C9"/>
            </a:solidFill>
            <a:prstDash val="solid"/>
            <a:tailEnd type="triangle"/>
          </a:ln>
        </p:spPr>
      </p:sp>
      <p:sp>
        <p:nvSpPr>
          <p:cNvPr id="12" name="State timeline step"/>
          <p:cNvSpPr/>
          <p:nvPr/>
        </p:nvSpPr>
        <p:spPr>
          <a:xfrm>
            <a:off x="3858768" y="1417320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F5F7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77640" y="1527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</a:rPr>
              <a:t>State timeline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19293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E5866"/>
                </a:solidFill>
              </a:rPr>
              <a:t>Dataframe tagging every moment of the match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40096" y="1975104"/>
            <a:ext cx="164592" cy="0"/>
          </a:xfrm>
          <a:prstGeom prst="line">
            <a:avLst/>
          </a:prstGeom>
          <a:noFill/>
          <a:ln w="15875">
            <a:solidFill>
              <a:srgbClr val="B8C0C9"/>
            </a:solidFill>
            <a:prstDash val="solid"/>
            <a:tailEnd type="triangle"/>
          </a:ln>
        </p:spPr>
      </p:sp>
      <p:sp>
        <p:nvSpPr>
          <p:cNvPr id="16" name="Upload to provider step"/>
          <p:cNvSpPr/>
          <p:nvPr/>
        </p:nvSpPr>
        <p:spPr>
          <a:xfrm>
            <a:off x="5559552" y="1417320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F5F7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78424" y="1527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37"/>
                </a:solidFill>
              </a:rPr>
              <a:t>Upload to provider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678424" y="19293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E5866"/>
                </a:solidFill>
              </a:rPr>
              <a:t>Timeline uploaded to the GPS provider through its 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40880" y="1975104"/>
            <a:ext cx="164592" cy="0"/>
          </a:xfrm>
          <a:prstGeom prst="line">
            <a:avLst/>
          </a:prstGeom>
          <a:noFill/>
          <a:ln w="15875">
            <a:solidFill>
              <a:srgbClr val="B8C0C9"/>
            </a:solidFill>
            <a:prstDash val="solid"/>
            <a:tailEnd type="triangle"/>
          </a:ln>
        </p:spPr>
      </p:sp>
      <p:sp>
        <p:nvSpPr>
          <p:cNvPr id="20" name="Physical data by state step"/>
          <p:cNvSpPr/>
          <p:nvPr/>
        </p:nvSpPr>
        <p:spPr>
          <a:xfrm>
            <a:off x="7260336" y="1417320"/>
            <a:ext cx="1426464" cy="1115568"/>
          </a:xfrm>
          <a:prstGeom prst="roundRect">
            <a:avLst>
              <a:gd name="adj" fmla="val 4918"/>
            </a:avLst>
          </a:prstGeom>
          <a:solidFill>
            <a:srgbClr val="E0F4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79208" y="15270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7A7A"/>
                </a:solidFill>
              </a:rPr>
              <a:t>Physical data by state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379208" y="19293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E5866"/>
                </a:solidFill>
              </a:rPr>
              <a:t>GPS provider data split by state and 15-minute block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</a:rPr>
              <a:t>Illustrative match timeline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2743200"/>
            <a:ext cx="137160" cy="137160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07408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5866"/>
                </a:solidFill>
              </a:rPr>
              <a:t>In possession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15000" y="2743200"/>
            <a:ext cx="137160" cy="137160"/>
          </a:xfrm>
          <a:prstGeom prst="rect">
            <a:avLst/>
          </a:prstGeom>
          <a:solidFill>
            <a:srgbClr val="B8C0C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16168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5866"/>
                </a:solidFill>
              </a:rPr>
              <a:t>Out of possession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2743200"/>
            <a:ext cx="13716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636D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24928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E5866"/>
                </a:solidFill>
              </a:rPr>
              <a:t>Ball out of play</a:t>
            </a:r>
            <a:endParaRPr lang="en-US" sz="1000" dirty="0"/>
          </a:p>
        </p:txBody>
      </p:sp>
      <p:sp>
        <p:nvSpPr>
          <p:cNvPr id="30" name="Timeline frame"/>
          <p:cNvSpPr/>
          <p:nvPr/>
        </p:nvSpPr>
        <p:spPr>
          <a:xfrm>
            <a:off x="457200" y="3063240"/>
            <a:ext cx="82296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636D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63240"/>
            <a:ext cx="9144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063240"/>
            <a:ext cx="18288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3063240"/>
            <a:ext cx="27432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5840" y="3063240"/>
            <a:ext cx="18288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88720" y="3063240"/>
            <a:ext cx="36576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54480" y="3063240"/>
            <a:ext cx="27432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0" y="3063240"/>
            <a:ext cx="36576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94560" y="3063240"/>
            <a:ext cx="18288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0" y="3063240"/>
            <a:ext cx="27432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26080" y="3063240"/>
            <a:ext cx="36576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063240"/>
            <a:ext cx="9144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83280" y="3063240"/>
            <a:ext cx="36576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49040" y="3063240"/>
            <a:ext cx="27432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23360" y="3063240"/>
            <a:ext cx="36576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0" y="3063240"/>
            <a:ext cx="18288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0" y="3063240"/>
            <a:ext cx="36576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7760" y="3063240"/>
            <a:ext cx="9144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0" y="3063240"/>
            <a:ext cx="18288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2080" y="3063240"/>
            <a:ext cx="36576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77840" y="3063240"/>
            <a:ext cx="27432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52160" y="3063240"/>
            <a:ext cx="9144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0" y="3063240"/>
            <a:ext cx="27432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0" y="3063240"/>
            <a:ext cx="18288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0" y="3063240"/>
            <a:ext cx="36576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49440" y="3063240"/>
            <a:ext cx="27432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23760" y="3063240"/>
            <a:ext cx="27432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98080" y="3063240"/>
            <a:ext cx="18288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80960" y="3063240"/>
            <a:ext cx="18288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63840" y="3063240"/>
            <a:ext cx="18288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46720" y="3063240"/>
            <a:ext cx="274320" cy="310896"/>
          </a:xfrm>
          <a:prstGeom prst="rect">
            <a:avLst/>
          </a:prstGeom>
          <a:solidFill>
            <a:srgbClr val="B8C0C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21040" y="3063240"/>
            <a:ext cx="365760" cy="310896"/>
          </a:xfrm>
          <a:prstGeom prst="rect">
            <a:avLst/>
          </a:prstGeom>
          <a:solidFill>
            <a:srgbClr val="00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7200" y="3374136"/>
            <a:ext cx="0" cy="73152"/>
          </a:xfrm>
          <a:prstGeom prst="line">
            <a:avLst/>
          </a:prstGeom>
          <a:noFill/>
          <a:ln w="9525">
            <a:solidFill>
              <a:srgbClr val="636D7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82880" y="34655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D7A"/>
                </a:solidFill>
              </a:rPr>
              <a:t>0'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828800" y="3374136"/>
            <a:ext cx="0" cy="73152"/>
          </a:xfrm>
          <a:prstGeom prst="line">
            <a:avLst/>
          </a:prstGeom>
          <a:noFill/>
          <a:ln w="9525">
            <a:solidFill>
              <a:srgbClr val="636D7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554480" y="34655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D7A"/>
                </a:solidFill>
              </a:rPr>
              <a:t>15'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00400" y="3374136"/>
            <a:ext cx="0" cy="73152"/>
          </a:xfrm>
          <a:prstGeom prst="line">
            <a:avLst/>
          </a:prstGeom>
          <a:noFill/>
          <a:ln w="9525">
            <a:solidFill>
              <a:srgbClr val="636D7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926080" y="34655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D7A"/>
                </a:solidFill>
              </a:rPr>
              <a:t>30'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0" y="3374136"/>
            <a:ext cx="0" cy="73152"/>
          </a:xfrm>
          <a:prstGeom prst="line">
            <a:avLst/>
          </a:prstGeom>
          <a:noFill/>
          <a:ln w="9525">
            <a:solidFill>
              <a:srgbClr val="636D7A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297680" y="34655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D7A"/>
                </a:solidFill>
              </a:rPr>
              <a:t>45'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943600" y="3374136"/>
            <a:ext cx="0" cy="73152"/>
          </a:xfrm>
          <a:prstGeom prst="line">
            <a:avLst/>
          </a:prstGeom>
          <a:noFill/>
          <a:ln w="9525">
            <a:solidFill>
              <a:srgbClr val="636D7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669280" y="34655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D7A"/>
                </a:solidFill>
              </a:rPr>
              <a:t>60'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315200" y="3374136"/>
            <a:ext cx="0" cy="73152"/>
          </a:xfrm>
          <a:prstGeom prst="line">
            <a:avLst/>
          </a:prstGeom>
          <a:noFill/>
          <a:ln w="9525">
            <a:solidFill>
              <a:srgbClr val="636D7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040880" y="34655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D7A"/>
                </a:solidFill>
              </a:rPr>
              <a:t>75'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686800" y="3374136"/>
            <a:ext cx="0" cy="73152"/>
          </a:xfrm>
          <a:prstGeom prst="line">
            <a:avLst/>
          </a:prstGeom>
          <a:noFill/>
          <a:ln w="9525">
            <a:solidFill>
              <a:srgbClr val="636D7A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412480" y="34655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D7A"/>
                </a:solidFill>
              </a:rPr>
              <a:t>90'</a:t>
            </a:r>
            <a:endParaRPr lang="en-US" sz="900" dirty="0"/>
          </a:p>
        </p:txBody>
      </p:sp>
      <p:sp>
        <p:nvSpPr>
          <p:cNvPr id="76" name="Timeline takeaway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</a:rPr>
              <a:t>Each player’s physical output can be read for every 15-minute block and each possession state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94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29260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possession tags were validated against match video before staff relied on them</a:t>
            </a:r>
            <a:endParaRPr lang="en-US" sz="22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 lined up the feeds by timestamp and checked the tags on a sample of 5 matches</a:t>
            </a:r>
            <a:endParaRPr lang="en-US" sz="1300" dirty="0"/>
          </a:p>
        </p:txBody>
      </p:sp>
      <p:sp>
        <p:nvSpPr>
          <p:cNvPr id="4" name="Validation stat card"/>
          <p:cNvSpPr/>
          <p:nvPr/>
        </p:nvSpPr>
        <p:spPr>
          <a:xfrm>
            <a:off x="457200" y="1417320"/>
            <a:ext cx="2468880" cy="3017520"/>
          </a:xfrm>
          <a:prstGeom prst="roundRect">
            <a:avLst>
              <a:gd name="adj" fmla="val 2222"/>
            </a:avLst>
          </a:prstGeom>
          <a:solidFill>
            <a:srgbClr val="E0F4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A7A"/>
                </a:solidFill>
              </a:rPr>
              <a:t>5 matches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</a:rPr>
              <a:t>assessed against match video before the tags were used in reports</a:t>
            </a:r>
            <a:endParaRPr lang="en-US" sz="1300" dirty="0"/>
          </a:p>
        </p:txBody>
      </p:sp>
      <p:sp>
        <p:nvSpPr>
          <p:cNvPr id="7" name="Lining up the two feeds card"/>
          <p:cNvSpPr/>
          <p:nvPr/>
        </p:nvSpPr>
        <p:spPr>
          <a:xfrm>
            <a:off x="3200400" y="141732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5F7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5819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Lining up the two feeds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9202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866"/>
                </a:solidFill>
              </a:rPr>
              <a:t>The GPS provider and Opta both record Unix timestamps, so every GPS sample can be matched directly to the match event happening at the same moment, with no manual syncing.</a:t>
            </a:r>
            <a:endParaRPr lang="en-US" sz="1250" dirty="0"/>
          </a:p>
        </p:txBody>
      </p:sp>
      <p:sp>
        <p:nvSpPr>
          <p:cNvPr id="10" name="Checking the tags card"/>
          <p:cNvSpPr/>
          <p:nvPr/>
        </p:nvSpPr>
        <p:spPr>
          <a:xfrm>
            <a:off x="3200400" y="297180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5F7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3136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Checking the tags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4747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866"/>
                </a:solidFill>
              </a:rPr>
              <a:t>I validated the tagging on a sample of 5 matches, assessing the model’s possession states against the match video to confirm it was separating in possession, out of possession and ball out of play correctly.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94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29260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 automated pipeline delivers the contextualised report within 2 hours of the match finishing</a:t>
            </a:r>
            <a:endParaRPr lang="en-US" sz="22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 automated every step after the practitioner downloads the match data</a:t>
            </a:r>
            <a:endParaRPr lang="en-US" sz="1300" dirty="0"/>
          </a:p>
        </p:txBody>
      </p:sp>
      <p:sp>
        <p:nvSpPr>
          <p:cNvPr id="4" name="Step 1 card"/>
          <p:cNvSpPr/>
          <p:nvPr/>
        </p:nvSpPr>
        <p:spPr>
          <a:xfrm>
            <a:off x="457200" y="141732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F5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D7A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842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Collect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866"/>
                </a:solidFill>
              </a:rPr>
              <a:t>The practitioner collects the GPS units and downloads the match data</a:t>
            </a:r>
            <a:endParaRPr lang="en-US" sz="1200" dirty="0"/>
          </a:p>
        </p:txBody>
      </p:sp>
      <p:sp>
        <p:nvSpPr>
          <p:cNvPr id="8" name="Step 2 card"/>
          <p:cNvSpPr/>
          <p:nvPr/>
        </p:nvSpPr>
        <p:spPr>
          <a:xfrm>
            <a:off x="2560320" y="141732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F5F7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4320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D7A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9842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Trigger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3774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866"/>
                </a:solidFill>
              </a:rPr>
              <a:t>Opta processes the match events straight after the game, which triggers a possession CSV</a:t>
            </a:r>
            <a:endParaRPr lang="en-US" sz="1200" dirty="0"/>
          </a:p>
        </p:txBody>
      </p:sp>
      <p:sp>
        <p:nvSpPr>
          <p:cNvPr id="12" name="Step 3 card"/>
          <p:cNvSpPr/>
          <p:nvPr/>
        </p:nvSpPr>
        <p:spPr>
          <a:xfrm>
            <a:off x="4663440" y="141732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F5F7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D7A"/>
                </a:solidFill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9842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Combine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3774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866"/>
                </a:solidFill>
              </a:rPr>
              <a:t>The GPS provider API pulls each player’s data, split by possession state and 15-minute block</a:t>
            </a:r>
            <a:endParaRPr lang="en-US" sz="1200" dirty="0"/>
          </a:p>
        </p:txBody>
      </p:sp>
      <p:sp>
        <p:nvSpPr>
          <p:cNvPr id="16" name="Step 4 card"/>
          <p:cNvSpPr/>
          <p:nvPr/>
        </p:nvSpPr>
        <p:spPr>
          <a:xfrm>
            <a:off x="6766560" y="141732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E0F4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A7A"/>
                </a:solidFill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19842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Interpret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23774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866"/>
                </a:solidFill>
              </a:rPr>
              <a:t>The report lands on the practitioner’s computer, ready for them to add context from the game</a:t>
            </a:r>
            <a:endParaRPr lang="en-US" sz="1200" dirty="0"/>
          </a:p>
        </p:txBody>
      </p:sp>
      <p:sp>
        <p:nvSpPr>
          <p:cNvPr id="20" name="Infrastructure strip"/>
          <p:cNvSpPr/>
          <p:nvPr/>
        </p:nvSpPr>
        <p:spPr>
          <a:xfrm>
            <a:off x="457200" y="3721608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8130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D7A"/>
                </a:solidFill>
              </a:rPr>
              <a:t>How I built it</a:t>
            </a:r>
            <a:endParaRPr lang="en-US" sz="1000" dirty="0"/>
          </a:p>
        </p:txBody>
      </p:sp>
      <p:sp>
        <p:nvSpPr>
          <p:cNvPr id="22" name="AWS detail"/>
          <p:cNvSpPr txBox="1"/>
          <p:nvPr/>
        </p:nvSpPr>
        <p:spPr>
          <a:xfrm>
            <a:off x="658368" y="4050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</a:rPr>
              <a:t>AWS: </a:t>
            </a:r>
            <a:pPr indent="0" marL="0">
              <a:buNone/>
            </a:pPr>
            <a:r>
              <a:rPr lang="en-US" sz="1050" dirty="0">
                <a:solidFill>
                  <a:srgbClr val="4E5866"/>
                </a:solidFill>
              </a:rPr>
              <a:t>S3 for match files, Postgres for querying</a:t>
            </a:r>
            <a:endParaRPr lang="en-US" sz="1050" dirty="0"/>
          </a:p>
        </p:txBody>
      </p:sp>
      <p:sp>
        <p:nvSpPr>
          <p:cNvPr id="23" name="Containerised project detail"/>
          <p:cNvSpPr txBox="1"/>
          <p:nvPr/>
        </p:nvSpPr>
        <p:spPr>
          <a:xfrm>
            <a:off x="3355848" y="4050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</a:rPr>
              <a:t>Containerised project: </a:t>
            </a:r>
            <a:pPr indent="0" marL="0">
              <a:buNone/>
            </a:pPr>
            <a:r>
              <a:rPr lang="en-US" sz="1050" dirty="0">
                <a:solidFill>
                  <a:srgbClr val="4E5866"/>
                </a:solidFill>
              </a:rPr>
              <a:t>the same environment wherever it runs</a:t>
            </a:r>
            <a:endParaRPr lang="en-US" sz="1050" dirty="0"/>
          </a:p>
        </p:txBody>
      </p:sp>
      <p:sp>
        <p:nvSpPr>
          <p:cNvPr id="24" name="Quarto detail"/>
          <p:cNvSpPr txBox="1"/>
          <p:nvPr/>
        </p:nvSpPr>
        <p:spPr>
          <a:xfrm>
            <a:off x="6053328" y="4050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</a:rPr>
              <a:t>Quarto: </a:t>
            </a:r>
            <a:pPr indent="0" marL="0">
              <a:buNone/>
            </a:pPr>
            <a:r>
              <a:rPr lang="en-US" sz="1050" dirty="0">
                <a:solidFill>
                  <a:srgbClr val="4E5866"/>
                </a:solidFill>
              </a:rPr>
              <a:t>every report rendered as a club-branded PDF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94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29260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system was built in three layers, each adding context to the one before</a:t>
            </a:r>
            <a:endParaRPr lang="en-US" sz="22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 built and launched each layer in turn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37360" y="1536192"/>
            <a:ext cx="5669280" cy="0"/>
          </a:xfrm>
          <a:prstGeom prst="line">
            <a:avLst/>
          </a:prstGeom>
          <a:noFill/>
          <a:ln w="19050">
            <a:solidFill>
              <a:srgbClr val="B8C0C9"/>
            </a:solidFill>
            <a:prstDash val="solid"/>
          </a:ln>
        </p:spPr>
      </p:sp>
      <p:sp>
        <p:nvSpPr>
          <p:cNvPr id="5" name="Layer 1 marker"/>
          <p:cNvSpPr/>
          <p:nvPr/>
        </p:nvSpPr>
        <p:spPr>
          <a:xfrm>
            <a:off x="1655064" y="1453896"/>
            <a:ext cx="164592" cy="164592"/>
          </a:xfrm>
          <a:prstGeom prst="ellipse">
            <a:avLst/>
          </a:prstGeom>
          <a:solidFill>
            <a:srgbClr val="0099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Layer 1 card"/>
          <p:cNvSpPr/>
          <p:nvPr/>
        </p:nvSpPr>
        <p:spPr>
          <a:xfrm>
            <a:off x="457200" y="173736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F5F7F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01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7A"/>
                </a:solidFill>
              </a:rPr>
              <a:t>Layer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Post-match GPS pipeline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700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866"/>
                </a:solidFill>
              </a:rPr>
              <a:t>A practitioner collection routine and an automated pipeline through the GPS provider API</a:t>
            </a:r>
            <a:endParaRPr lang="en-US" sz="1200" dirty="0"/>
          </a:p>
        </p:txBody>
      </p:sp>
      <p:sp>
        <p:nvSpPr>
          <p:cNvPr id="10" name="Layer 2 marker"/>
          <p:cNvSpPr/>
          <p:nvPr/>
        </p:nvSpPr>
        <p:spPr>
          <a:xfrm>
            <a:off x="4489704" y="1453896"/>
            <a:ext cx="164592" cy="164592"/>
          </a:xfrm>
          <a:prstGeom prst="ellipse">
            <a:avLst/>
          </a:prstGeom>
          <a:solidFill>
            <a:srgbClr val="0099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Layer 2 card"/>
          <p:cNvSpPr/>
          <p:nvPr/>
        </p:nvSpPr>
        <p:spPr>
          <a:xfrm>
            <a:off x="3291840" y="173736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F5F7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1901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7A"/>
                </a:solidFill>
              </a:rPr>
              <a:t>Layer 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214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Broadcast tracking provider benchmarking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700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866"/>
                </a:solidFill>
              </a:rPr>
              <a:t>Team-level trends against the opposition and the rest of the league</a:t>
            </a:r>
            <a:endParaRPr lang="en-US" sz="1200" dirty="0"/>
          </a:p>
        </p:txBody>
      </p:sp>
      <p:sp>
        <p:nvSpPr>
          <p:cNvPr id="15" name="Layer 3 marker"/>
          <p:cNvSpPr/>
          <p:nvPr/>
        </p:nvSpPr>
        <p:spPr>
          <a:xfrm>
            <a:off x="7324344" y="1453896"/>
            <a:ext cx="164592" cy="164592"/>
          </a:xfrm>
          <a:prstGeom prst="ellipse">
            <a:avLst/>
          </a:prstGeom>
          <a:solidFill>
            <a:srgbClr val="0099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Layer 3 card"/>
          <p:cNvSpPr/>
          <p:nvPr/>
        </p:nvSpPr>
        <p:spPr>
          <a:xfrm>
            <a:off x="6126480" y="1737360"/>
            <a:ext cx="2560320" cy="1965960"/>
          </a:xfrm>
          <a:prstGeom prst="roundRect">
            <a:avLst>
              <a:gd name="adj" fmla="val 2791"/>
            </a:avLst>
          </a:prstGeom>
          <a:solidFill>
            <a:srgbClr val="F5F7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1901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A7A"/>
                </a:solidFill>
              </a:rPr>
              <a:t>Layer 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1214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Possession context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6700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5866"/>
                </a:solidFill>
              </a:rPr>
              <a:t>In- and out-of-possession tags from Opta events, plus 15-minute splits</a:t>
            </a:r>
            <a:endParaRPr lang="en-US" sz="1200" dirty="0"/>
          </a:p>
        </p:txBody>
      </p:sp>
      <p:sp>
        <p:nvSpPr>
          <p:cNvPr id="20" name="Layer principle"/>
          <p:cNvSpPr/>
          <p:nvPr/>
        </p:nvSpPr>
        <p:spPr>
          <a:xfrm>
            <a:off x="457200" y="390448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0F4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39044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7A"/>
                </a:solidFill>
              </a:rPr>
              <a:t>Each layer went live and was trusted by staff before the next was added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94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29260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The GPS report now arrives within 2 hours of the match finishing, not after a 10–12 hour wait</a:t>
            </a:r>
            <a:endParaRPr lang="en-US" sz="2200" dirty="0"/>
          </a:p>
        </p:txBody>
      </p:sp>
      <p:sp>
        <p:nvSpPr>
          <p:cNvPr id="3" name="Last season card"/>
          <p:cNvSpPr/>
          <p:nvPr/>
        </p:nvSpPr>
        <p:spPr>
          <a:xfrm>
            <a:off x="457200" y="1417320"/>
            <a:ext cx="3977640" cy="2148840"/>
          </a:xfrm>
          <a:prstGeom prst="roundRect">
            <a:avLst>
              <a:gd name="adj" fmla="val 2553"/>
            </a:avLst>
          </a:prstGeom>
          <a:solidFill>
            <a:srgbClr val="F5F7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D7A"/>
                </a:solidFill>
              </a:rPr>
              <a:t>Last season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36D7A"/>
                </a:solidFill>
              </a:rPr>
              <a:t>10–12 h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866"/>
                </a:solidFill>
              </a:rPr>
              <a:t>Waiting for the league’s data to process before any report could go out</a:t>
            </a:r>
            <a:endParaRPr lang="en-US" sz="1250" dirty="0"/>
          </a:p>
        </p:txBody>
      </p:sp>
      <p:sp>
        <p:nvSpPr>
          <p:cNvPr id="7" name="This season card"/>
          <p:cNvSpPr/>
          <p:nvPr/>
        </p:nvSpPr>
        <p:spPr>
          <a:xfrm>
            <a:off x="4709160" y="1417320"/>
            <a:ext cx="3977640" cy="2148840"/>
          </a:xfrm>
          <a:prstGeom prst="roundRect">
            <a:avLst>
              <a:gd name="adj" fmla="val 2553"/>
            </a:avLst>
          </a:prstGeom>
          <a:solidFill>
            <a:srgbClr val="E0F4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7A"/>
                </a:solidFill>
              </a:rPr>
              <a:t>This season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8745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A7A"/>
                </a:solidFill>
              </a:rPr>
              <a:t>Within 2 h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7432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5866"/>
                </a:solidFill>
              </a:rPr>
              <a:t>Collect GPS, download, shower and change: the report is ready to send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Broadcast tracking provider report: 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</a:rPr>
              <a:t>still 24–36 hours, which is acceptable because it adds context and is not used to make decisions</a:t>
            </a:r>
            <a:endParaRPr lang="en-US" sz="1300" dirty="0"/>
          </a:p>
        </p:txBody>
      </p:sp>
      <p:sp>
        <p:nvSpPr>
          <p:cNvPr id="12" name="Text 8"/>
          <p:cNvSpPr/>
          <p:nvPr>
            <p:ph idx="109" type="body" hasCustomPrompt="1"/>
          </p:nvPr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94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29260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 2-hour turnaround lets staff adjust MD+1 training using that match’s data</a:t>
            </a:r>
            <a:endParaRPr lang="en-US" sz="22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 example of how staff use the report</a:t>
            </a:r>
            <a:endParaRPr lang="en-US" sz="1300" dirty="0"/>
          </a:p>
        </p:txBody>
      </p:sp>
      <p:sp>
        <p:nvSpPr>
          <p:cNvPr id="4" name="The situation card"/>
          <p:cNvSpPr/>
          <p:nvPr/>
        </p:nvSpPr>
        <p:spPr>
          <a:xfrm>
            <a:off x="457200" y="1417320"/>
            <a:ext cx="2514600" cy="1691640"/>
          </a:xfrm>
          <a:prstGeom prst="roundRect">
            <a:avLst>
              <a:gd name="adj" fmla="val 3243"/>
            </a:avLst>
          </a:prstGeom>
          <a:solidFill>
            <a:srgbClr val="F5F7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58191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The situation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92024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A substitute comes on at 60 minutes. A player with 30 minutes would normally be expected to train on MD+1.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35808" y="2258568"/>
            <a:ext cx="214884" cy="0"/>
          </a:xfrm>
          <a:prstGeom prst="line">
            <a:avLst/>
          </a:prstGeom>
          <a:noFill/>
          <a:ln w="15875">
            <a:solidFill>
              <a:srgbClr val="B8C0C9"/>
            </a:solidFill>
            <a:prstDash val="solid"/>
            <a:tailEnd type="triangle"/>
          </a:ln>
        </p:spPr>
      </p:sp>
      <p:sp>
        <p:nvSpPr>
          <p:cNvPr id="8" name="What the report shows card"/>
          <p:cNvSpPr/>
          <p:nvPr/>
        </p:nvSpPr>
        <p:spPr>
          <a:xfrm>
            <a:off x="3314700" y="1417320"/>
            <a:ext cx="2514600" cy="1691640"/>
          </a:xfrm>
          <a:prstGeom prst="roundRect">
            <a:avLst>
              <a:gd name="adj" fmla="val 3243"/>
            </a:avLst>
          </a:prstGeom>
          <a:solidFill>
            <a:srgbClr val="F5F7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15868" y="158191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What the report shows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15868" y="192024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Within 2 hours of the match finishing, it shows a sprint load similar to what would be expected over 90 minutes, not 30.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3308" y="2258568"/>
            <a:ext cx="214884" cy="0"/>
          </a:xfrm>
          <a:prstGeom prst="line">
            <a:avLst/>
          </a:prstGeom>
          <a:noFill/>
          <a:ln w="15875">
            <a:solidFill>
              <a:srgbClr val="B8C0C9"/>
            </a:solidFill>
            <a:prstDash val="solid"/>
            <a:tailEnd type="triangle"/>
          </a:ln>
        </p:spPr>
      </p:sp>
      <p:sp>
        <p:nvSpPr>
          <p:cNvPr id="12" name="The decision card"/>
          <p:cNvSpPr/>
          <p:nvPr/>
        </p:nvSpPr>
        <p:spPr>
          <a:xfrm>
            <a:off x="6172200" y="1417320"/>
            <a:ext cx="2514600" cy="1691640"/>
          </a:xfrm>
          <a:prstGeom prst="roundRect">
            <a:avLst>
              <a:gd name="adj" fmla="val 3243"/>
            </a:avLst>
          </a:prstGeom>
          <a:solidFill>
            <a:srgbClr val="E0F4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73368" y="158191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A7A"/>
                </a:solidFill>
              </a:rPr>
              <a:t>The decision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1920240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</a:rPr>
              <a:t>They still train on MD+1, but the session is modified to reflect the load they actually carried.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Practitioners are part of the process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3931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</a:rPr>
              <a:t>The report arrives on their own computer, within 2 hours of the match finishing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</a:rPr>
              <a:t>They add their context and insight from the game to the summary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</a:rPr>
              <a:t>Stakeholders receive the data and the practitioner’s judgement in one output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94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7" type="title" hasCustomPrompt="1"/>
          </p:nvPr>
        </p:nvSpPr>
        <p:spPr>
          <a:xfrm>
            <a:off x="457200" y="137160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club kept its match insight after relegation, and now gets it faster</a:t>
            </a:r>
            <a:endParaRPr lang="en-US" sz="3000" dirty="0"/>
          </a:p>
        </p:txBody>
      </p:sp>
      <p:sp>
        <p:nvSpPr>
          <p:cNvPr id="3" name="Text 7"/>
          <p:cNvSpPr/>
          <p:nvPr>
            <p:ph idx="108" type="body" hasCustomPrompt="1"/>
          </p:nvPr>
        </p:nvSpPr>
        <p:spPr>
          <a:xfrm>
            <a:off x="457200" y="2560320"/>
            <a:ext cx="7772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B8C0C9"/>
                </a:solidFill>
              </a:rPr>
              <a:t>Build on the systems already in place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B8C0C9"/>
                </a:solidFill>
              </a:rPr>
              <a:t>Match each data source to the decisions it can support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B8C0C9"/>
                </a:solidFill>
              </a:rPr>
              <a:t>Add layers only once the base is reliable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B8C0C9"/>
                </a:solidFill>
              </a:rPr>
              <a:t>Keep practitioners in the loop</a:t>
            </a:r>
            <a:endParaRPr lang="en-US" sz="1500" dirty="0"/>
          </a:p>
        </p:txBody>
      </p:sp>
      <p:sp>
        <p:nvSpPr>
          <p:cNvPr id="4" name="Text 7"/>
          <p:cNvSpPr/>
          <p:nvPr>
            <p:ph idx="109" type="body" hasCustomPrompt="1"/>
          </p:nvPr>
        </p:nvSpPr>
        <p:spPr>
          <a:xfrm>
            <a:off x="45720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C9"/>
                </a:solidFill>
              </a:rPr>
              <a:t>Data: GPS provider  ·  Opta  ·  broadcast tracking provider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457200" y="292608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GPS informs decisions within 2 hours; tracking adds context</a:t>
            </a:r>
            <a:endParaRPr lang="en-US" sz="22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Appendix · post-match physical analysis: what staff can expect, and when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429000" cy="274320"/>
          </a:xfrm>
          <a:prstGeom prst="roundRect">
            <a:avLst>
              <a:gd name="adj" fmla="val 13333"/>
            </a:avLst>
          </a:prstGeom>
          <a:solidFill>
            <a:srgbClr val="1F2A3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GPS provider report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57800" y="1371600"/>
            <a:ext cx="3429000" cy="274320"/>
          </a:xfrm>
          <a:prstGeom prst="roundRect">
            <a:avLst>
              <a:gd name="adj" fmla="val 13333"/>
            </a:avLst>
          </a:prstGeom>
          <a:solidFill>
            <a:srgbClr val="1F2A3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94960" y="1371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Broadcast tracking provider report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429000" cy="246888"/>
          </a:xfrm>
          <a:prstGeom prst="roundRect">
            <a:avLst>
              <a:gd name="adj" fmla="val 14815"/>
            </a:avLst>
          </a:prstGeom>
          <a:solidFill>
            <a:srgbClr val="F5F7F9"/>
          </a:solidFill>
          <a:ln/>
        </p:spPr>
      </p:sp>
      <p:sp>
        <p:nvSpPr>
          <p:cNvPr id="9" name="Shape 7"/>
          <p:cNvSpPr/>
          <p:nvPr/>
        </p:nvSpPr>
        <p:spPr>
          <a:xfrm>
            <a:off x="5257800" y="1691640"/>
            <a:ext cx="3429000" cy="246888"/>
          </a:xfrm>
          <a:prstGeom prst="roundRect">
            <a:avLst>
              <a:gd name="adj" fmla="val 14815"/>
            </a:avLst>
          </a:prstGeom>
          <a:solidFill>
            <a:srgbClr val="F5F7F9"/>
          </a:solidFill>
          <a:ln/>
        </p:spPr>
      </p:sp>
      <p:pic>
        <p:nvPicPr>
          <p:cNvPr id="10" name="Clock icon" descr="Clo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23644"/>
            <a:ext cx="182880" cy="182880"/>
          </a:xfrm>
          <a:prstGeom prst="rect">
            <a:avLst/>
          </a:prstGeom>
        </p:spPr>
      </p:pic>
      <p:pic>
        <p:nvPicPr>
          <p:cNvPr id="11" name="Clock icon" descr="C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172364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1248" y="1691640"/>
            <a:ext cx="2953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Within </a:t>
            </a:r>
            <a:pPr indent="0" marL="0">
              <a:buNone/>
            </a:pPr>
            <a:r>
              <a:rPr lang="en-US" sz="1050" b="1" dirty="0">
                <a:solidFill>
                  <a:srgbClr val="007A7A"/>
                </a:solidFill>
              </a:rPr>
              <a:t>2 hours</a:t>
            </a:r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 of the match finishing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641848" y="1691640"/>
            <a:ext cx="2953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Within </a:t>
            </a:r>
            <a:pPr indent="0" marL="0">
              <a:buNone/>
            </a:pPr>
            <a:r>
              <a:rPr lang="en-US" sz="1050" b="1" dirty="0">
                <a:solidFill>
                  <a:srgbClr val="007A7A"/>
                </a:solidFill>
              </a:rPr>
              <a:t>24–36 hours</a:t>
            </a:r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 of the match finishing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1984248"/>
            <a:ext cx="3429000" cy="219456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/>
        </p:spPr>
      </p:sp>
      <p:pic>
        <p:nvPicPr>
          <p:cNvPr id="15" name="Team values compared to norms icon" descr="Team values compared to norm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02536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" y="1984248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Team values compared to norms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7200" y="2240280"/>
            <a:ext cx="3429000" cy="219456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/>
        </p:spPr>
      </p:sp>
      <p:pic>
        <p:nvPicPr>
          <p:cNvPr id="18" name="1st / 2nd half compared to norms icon" descr="1st / 2nd half compared to norm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258568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1248" y="224028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1st / 2nd half compared to norms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2496312"/>
            <a:ext cx="3429000" cy="219456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/>
        </p:spPr>
      </p:sp>
      <p:pic>
        <p:nvPicPr>
          <p:cNvPr id="21" name="15-minute period breakdowns icon" descr="15-minute period breakdown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51460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41248" y="2496312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15-minute period breakdowns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457200" y="2752344"/>
            <a:ext cx="3429000" cy="219456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/>
        </p:spPr>
      </p:sp>
      <p:pic>
        <p:nvPicPr>
          <p:cNvPr id="24" name="Game-on-game trends icon" descr="Game-on-game trend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2770632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41248" y="2752344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Game-on-game trends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57200" y="3008376"/>
            <a:ext cx="3429000" cy="219456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/>
        </p:spPr>
      </p:sp>
      <p:pic>
        <p:nvPicPr>
          <p:cNvPr id="27" name="Individual player breakdowns icon" descr="Individual player breakdown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026664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41248" y="3008376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Individual player breakdowns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457200" y="3264408"/>
            <a:ext cx="3429000" cy="219456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/>
        </p:spPr>
      </p:sp>
      <p:pic>
        <p:nvPicPr>
          <p:cNvPr id="30" name="In and out of possession breakdowns icon" descr="In and out of possession breakdowns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3282696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41248" y="3264408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In and out of possession breakdowns</a:t>
            </a:r>
            <a:endParaRPr lang="en-US" sz="1050" dirty="0"/>
          </a:p>
        </p:txBody>
      </p:sp>
      <p:sp>
        <p:nvSpPr>
          <p:cNvPr id="32" name="Shape 22"/>
          <p:cNvSpPr/>
          <p:nvPr/>
        </p:nvSpPr>
        <p:spPr>
          <a:xfrm>
            <a:off x="5257800" y="1984248"/>
            <a:ext cx="3429000" cy="219456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/>
        </p:spPr>
      </p:sp>
      <p:pic>
        <p:nvPicPr>
          <p:cNvPr id="33" name="Match-specific comparison to opponent icon" descr="Match-specific comparison to opponent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67528" y="2002536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641848" y="1984248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Match-specific comparison to opponent</a:t>
            </a:r>
            <a:endParaRPr lang="en-US" sz="1050" dirty="0"/>
          </a:p>
        </p:txBody>
      </p:sp>
      <p:sp>
        <p:nvSpPr>
          <p:cNvPr id="35" name="Shape 24"/>
          <p:cNvSpPr/>
          <p:nvPr/>
        </p:nvSpPr>
        <p:spPr>
          <a:xfrm>
            <a:off x="5257800" y="2240280"/>
            <a:ext cx="3429000" cy="219456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/>
        </p:spPr>
      </p:sp>
      <p:pic>
        <p:nvPicPr>
          <p:cNvPr id="36" name="Game-on-game comparison to opponent icon" descr="Game-on-game comparison to opponent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7528" y="2258568"/>
            <a:ext cx="182880" cy="18288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5641848" y="224028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Game-on-game comparison to opponent</a:t>
            </a:r>
            <a:endParaRPr lang="en-US" sz="1050" dirty="0"/>
          </a:p>
        </p:txBody>
      </p:sp>
      <p:sp>
        <p:nvSpPr>
          <p:cNvPr id="38" name="Shape 26"/>
          <p:cNvSpPr/>
          <p:nvPr/>
        </p:nvSpPr>
        <p:spPr>
          <a:xfrm>
            <a:off x="5257800" y="2496312"/>
            <a:ext cx="3429000" cy="219456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/>
        </p:spPr>
      </p:sp>
      <p:pic>
        <p:nvPicPr>
          <p:cNvPr id="39" name="Physical metrics compared to league icon" descr="Physical metrics compared to leagu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67528" y="2514600"/>
            <a:ext cx="182880" cy="18288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641848" y="2496312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Physical metrics compared to league</a:t>
            </a:r>
            <a:endParaRPr lang="en-US" sz="1050" dirty="0"/>
          </a:p>
        </p:txBody>
      </p:sp>
      <p:sp>
        <p:nvSpPr>
          <p:cNvPr id="41" name="Shape 28"/>
          <p:cNvSpPr/>
          <p:nvPr/>
        </p:nvSpPr>
        <p:spPr>
          <a:xfrm>
            <a:off x="5257800" y="2752344"/>
            <a:ext cx="3429000" cy="219456"/>
          </a:xfrm>
          <a:prstGeom prst="roundRect">
            <a:avLst>
              <a:gd name="adj" fmla="val 16667"/>
            </a:avLst>
          </a:prstGeom>
          <a:solidFill>
            <a:srgbClr val="F5F7F9"/>
          </a:solidFill>
          <a:ln/>
        </p:spPr>
      </p:sp>
      <p:pic>
        <p:nvPicPr>
          <p:cNvPr id="42" name="Run types compared to league icon" descr="Run types compared to league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67528" y="2770632"/>
            <a:ext cx="182880" cy="182880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5641848" y="2752344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</a:rPr>
              <a:t>Run types compared to league</a:t>
            </a:r>
            <a:endParaRPr lang="en-US" sz="1050" dirty="0"/>
          </a:p>
        </p:txBody>
      </p:sp>
      <p:sp>
        <p:nvSpPr>
          <p:cNvPr id="44" name="Shape 30"/>
          <p:cNvSpPr/>
          <p:nvPr/>
        </p:nvSpPr>
        <p:spPr>
          <a:xfrm>
            <a:off x="457200" y="3529584"/>
            <a:ext cx="3429000" cy="246888"/>
          </a:xfrm>
          <a:prstGeom prst="roundRect">
            <a:avLst>
              <a:gd name="adj" fmla="val 14815"/>
            </a:avLst>
          </a:prstGeom>
          <a:solidFill>
            <a:srgbClr val="E0F4F4"/>
          </a:solidFill>
          <a:ln/>
        </p:spPr>
      </p:sp>
      <p:sp>
        <p:nvSpPr>
          <p:cNvPr id="45" name="Shape 31"/>
          <p:cNvSpPr/>
          <p:nvPr/>
        </p:nvSpPr>
        <p:spPr>
          <a:xfrm>
            <a:off x="5257800" y="3529584"/>
            <a:ext cx="3429000" cy="246888"/>
          </a:xfrm>
          <a:prstGeom prst="roundRect">
            <a:avLst>
              <a:gd name="adj" fmla="val 14815"/>
            </a:avLst>
          </a:prstGeom>
          <a:solidFill>
            <a:srgbClr val="E0F4F4"/>
          </a:solidFill>
          <a:ln/>
        </p:spPr>
      </p:sp>
      <p:pic>
        <p:nvPicPr>
          <p:cNvPr id="46" name="Stopwatch icon" descr="Stopwatch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3561588"/>
            <a:ext cx="182880" cy="182880"/>
          </a:xfrm>
          <a:prstGeom prst="rect">
            <a:avLst/>
          </a:prstGeom>
        </p:spPr>
      </p:pic>
      <p:pic>
        <p:nvPicPr>
          <p:cNvPr id="47" name="Ball icon" descr="Ball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67528" y="3561588"/>
            <a:ext cx="182880" cy="182880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841248" y="3529584"/>
            <a:ext cx="2953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</a:rPr>
              <a:t>Relative to minutes played</a:t>
            </a:r>
            <a:endParaRPr lang="en-US" sz="1050" dirty="0"/>
          </a:p>
        </p:txBody>
      </p:sp>
      <p:sp>
        <p:nvSpPr>
          <p:cNvPr id="49" name="Text 33"/>
          <p:cNvSpPr txBox="1"/>
          <p:nvPr/>
        </p:nvSpPr>
        <p:spPr>
          <a:xfrm>
            <a:off x="5641848" y="3529584"/>
            <a:ext cx="2953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37"/>
                </a:solidFill>
              </a:rPr>
              <a:t>Relative to time spent in possession</a:t>
            </a:r>
            <a:endParaRPr lang="en-US" sz="1050" dirty="0"/>
          </a:p>
        </p:txBody>
      </p:sp>
      <p:sp>
        <p:nvSpPr>
          <p:cNvPr id="50" name="Shape 34"/>
          <p:cNvSpPr/>
          <p:nvPr/>
        </p:nvSpPr>
        <p:spPr>
          <a:xfrm>
            <a:off x="457200" y="3822192"/>
            <a:ext cx="3429000" cy="402336"/>
          </a:xfrm>
          <a:prstGeom prst="roundRect">
            <a:avLst>
              <a:gd name="adj" fmla="val 9091"/>
            </a:avLst>
          </a:prstGeom>
          <a:solidFill>
            <a:srgbClr val="F5F7F9"/>
          </a:solidFill>
          <a:ln/>
        </p:spPr>
      </p:sp>
      <p:sp>
        <p:nvSpPr>
          <p:cNvPr id="51" name="Shape 35"/>
          <p:cNvSpPr/>
          <p:nvPr/>
        </p:nvSpPr>
        <p:spPr>
          <a:xfrm>
            <a:off x="5257800" y="3822192"/>
            <a:ext cx="3429000" cy="402336"/>
          </a:xfrm>
          <a:prstGeom prst="roundRect">
            <a:avLst>
              <a:gd name="adj" fmla="val 9091"/>
            </a:avLst>
          </a:prstGeom>
          <a:solidFill>
            <a:srgbClr val="F5F7F9"/>
          </a:solidFill>
          <a:ln/>
        </p:spPr>
      </p:sp>
      <p:pic>
        <p:nvPicPr>
          <p:cNvPr id="52" name="Clipboard icon" descr="Clipboard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6928" y="3931920"/>
            <a:ext cx="182880" cy="182880"/>
          </a:xfrm>
          <a:prstGeom prst="rect">
            <a:avLst/>
          </a:prstGeom>
        </p:spPr>
      </p:pic>
      <p:pic>
        <p:nvPicPr>
          <p:cNvPr id="53" name="Clipboard icon" descr="Clipboard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67528" y="3931920"/>
            <a:ext cx="182880" cy="182880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41248" y="3822192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5866"/>
                </a:solidFill>
              </a:rPr>
              <a:t>Total distance, metreage, HS / VHS / sprint / &gt;90% distance, sprint / &gt;90% efforts, peak speed, accelerations and decelerations, explosive efforts</a:t>
            </a:r>
            <a:endParaRPr lang="en-US" sz="850" dirty="0"/>
          </a:p>
        </p:txBody>
      </p:sp>
      <p:sp>
        <p:nvSpPr>
          <p:cNvPr id="55" name="Text 37"/>
          <p:cNvSpPr txBox="1"/>
          <p:nvPr/>
        </p:nvSpPr>
        <p:spPr>
          <a:xfrm>
            <a:off x="5641848" y="3822192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5866"/>
                </a:solidFill>
              </a:rPr>
              <a:t>Total distance, VHS / sprint / HI distance, sprint efforts, run types, effective playing time, time in possession, minutes played</a:t>
            </a:r>
            <a:endParaRPr lang="en-US" sz="850" dirty="0"/>
          </a:p>
        </p:txBody>
      </p:sp>
      <p:sp>
        <p:nvSpPr>
          <p:cNvPr id="56" name="Shape 38"/>
          <p:cNvSpPr/>
          <p:nvPr/>
        </p:nvSpPr>
        <p:spPr>
          <a:xfrm>
            <a:off x="457200" y="4270248"/>
            <a:ext cx="34290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sp>
        <p:nvSpPr>
          <p:cNvPr id="57" name="Shape 39"/>
          <p:cNvSpPr/>
          <p:nvPr/>
        </p:nvSpPr>
        <p:spPr>
          <a:xfrm>
            <a:off x="5257800" y="4270248"/>
            <a:ext cx="34290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4"/>
            </a:solidFill>
            <a:prstDash val="solid"/>
          </a:ln>
        </p:spPr>
      </p:sp>
      <p:pic>
        <p:nvPicPr>
          <p:cNvPr id="58" name="Team icon" descr="Team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6928" y="4325112"/>
            <a:ext cx="182880" cy="182880"/>
          </a:xfrm>
          <a:prstGeom prst="rect">
            <a:avLst/>
          </a:prstGeom>
        </p:spPr>
      </p:pic>
      <p:pic>
        <p:nvPicPr>
          <p:cNvPr id="59" name="Pitch icon" descr="Pitch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67528" y="4325112"/>
            <a:ext cx="182880" cy="182880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841248" y="427024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37"/>
                </a:solidFill>
              </a:rPr>
              <a:t>Focuses on </a:t>
            </a:r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</a:rPr>
              <a:t>team and player workload</a:t>
            </a:r>
            <a:pPr indent="0" marL="0">
              <a:buNone/>
            </a:pPr>
            <a:r>
              <a:rPr lang="en-US" sz="950" dirty="0">
                <a:solidFill>
                  <a:srgbClr val="1F2A37"/>
                </a:solidFill>
              </a:rPr>
              <a:t> relative to norms and minutes played</a:t>
            </a:r>
            <a:endParaRPr lang="en-US" sz="950" dirty="0"/>
          </a:p>
        </p:txBody>
      </p:sp>
      <p:sp>
        <p:nvSpPr>
          <p:cNvPr id="61" name="Text 41"/>
          <p:cNvSpPr txBox="1"/>
          <p:nvPr/>
        </p:nvSpPr>
        <p:spPr>
          <a:xfrm>
            <a:off x="5641848" y="427024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37"/>
                </a:solidFill>
              </a:rPr>
              <a:t>Focuses on </a:t>
            </a:r>
            <a:pPr indent="0" marL="0">
              <a:buNone/>
            </a:pPr>
            <a:r>
              <a:rPr lang="en-US" sz="950" b="1" dirty="0">
                <a:solidFill>
                  <a:srgbClr val="1F2A37"/>
                </a:solidFill>
              </a:rPr>
              <a:t>opponent, context, possession and league</a:t>
            </a:r>
            <a:pPr indent="0" marL="0">
              <a:buNone/>
            </a:pPr>
            <a:r>
              <a:rPr lang="en-US" sz="950" dirty="0">
                <a:solidFill>
                  <a:srgbClr val="1F2A37"/>
                </a:solidFill>
              </a:rPr>
              <a:t> comparisons</a:t>
            </a:r>
            <a:endParaRPr lang="en-US" sz="950" dirty="0"/>
          </a:p>
        </p:txBody>
      </p:sp>
      <p:sp>
        <p:nvSpPr>
          <p:cNvPr id="62" name="Text 42"/>
          <p:cNvSpPr txBox="1"/>
          <p:nvPr/>
        </p:nvSpPr>
        <p:spPr>
          <a:xfrm>
            <a:off x="4069080" y="16322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866"/>
                </a:solidFill>
              </a:rPr>
              <a:t>Availability</a:t>
            </a:r>
            <a:endParaRPr lang="en-US" sz="950" dirty="0"/>
          </a:p>
        </p:txBody>
      </p:sp>
      <p:sp>
        <p:nvSpPr>
          <p:cNvPr id="63" name="Shape 43"/>
          <p:cNvSpPr/>
          <p:nvPr/>
        </p:nvSpPr>
        <p:spPr>
          <a:xfrm>
            <a:off x="3922776" y="1815084"/>
            <a:ext cx="12801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64" name="Shape 44"/>
          <p:cNvSpPr/>
          <p:nvPr/>
        </p:nvSpPr>
        <p:spPr>
          <a:xfrm>
            <a:off x="5093208" y="1815084"/>
            <a:ext cx="12801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65" name="Text 45"/>
          <p:cNvSpPr txBox="1"/>
          <p:nvPr/>
        </p:nvSpPr>
        <p:spPr>
          <a:xfrm>
            <a:off x="4069080" y="34701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866"/>
                </a:solidFill>
              </a:rPr>
              <a:t>Relative values</a:t>
            </a:r>
            <a:endParaRPr lang="en-US" sz="950" dirty="0"/>
          </a:p>
        </p:txBody>
      </p:sp>
      <p:sp>
        <p:nvSpPr>
          <p:cNvPr id="66" name="Shape 46"/>
          <p:cNvSpPr/>
          <p:nvPr/>
        </p:nvSpPr>
        <p:spPr>
          <a:xfrm>
            <a:off x="3922776" y="3653028"/>
            <a:ext cx="12801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67" name="Shape 47"/>
          <p:cNvSpPr/>
          <p:nvPr/>
        </p:nvSpPr>
        <p:spPr>
          <a:xfrm>
            <a:off x="5093208" y="3653028"/>
            <a:ext cx="12801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68" name="Text 48"/>
          <p:cNvSpPr txBox="1"/>
          <p:nvPr/>
        </p:nvSpPr>
        <p:spPr>
          <a:xfrm>
            <a:off x="406908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866"/>
                </a:solidFill>
              </a:rPr>
              <a:t>Metrics included</a:t>
            </a:r>
            <a:endParaRPr lang="en-US" sz="950" dirty="0"/>
          </a:p>
        </p:txBody>
      </p:sp>
      <p:sp>
        <p:nvSpPr>
          <p:cNvPr id="69" name="Shape 49"/>
          <p:cNvSpPr/>
          <p:nvPr/>
        </p:nvSpPr>
        <p:spPr>
          <a:xfrm>
            <a:off x="3922776" y="4023360"/>
            <a:ext cx="12801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70" name="Shape 50"/>
          <p:cNvSpPr/>
          <p:nvPr/>
        </p:nvSpPr>
        <p:spPr>
          <a:xfrm>
            <a:off x="5093208" y="4023360"/>
            <a:ext cx="12801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71" name="Text 51"/>
          <p:cNvSpPr txBox="1"/>
          <p:nvPr/>
        </p:nvSpPr>
        <p:spPr>
          <a:xfrm>
            <a:off x="4069080" y="42336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866"/>
                </a:solidFill>
              </a:rPr>
              <a:t>Focus</a:t>
            </a:r>
            <a:endParaRPr lang="en-US" sz="950" dirty="0"/>
          </a:p>
        </p:txBody>
      </p:sp>
      <p:sp>
        <p:nvSpPr>
          <p:cNvPr id="72" name="Shape 52"/>
          <p:cNvSpPr/>
          <p:nvPr/>
        </p:nvSpPr>
        <p:spPr>
          <a:xfrm>
            <a:off x="3922776" y="4416552"/>
            <a:ext cx="12801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73" name="Shape 53"/>
          <p:cNvSpPr/>
          <p:nvPr/>
        </p:nvSpPr>
        <p:spPr>
          <a:xfrm>
            <a:off x="5093208" y="4416552"/>
            <a:ext cx="12801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74" name="Text 54"/>
          <p:cNvSpPr txBox="1"/>
          <p:nvPr/>
        </p:nvSpPr>
        <p:spPr>
          <a:xfrm>
            <a:off x="4069080" y="25054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E5866"/>
                </a:solidFill>
              </a:rPr>
              <a:t>Graphical insights</a:t>
            </a:r>
            <a:endParaRPr lang="en-US" sz="950" dirty="0"/>
          </a:p>
        </p:txBody>
      </p:sp>
      <p:sp>
        <p:nvSpPr>
          <p:cNvPr id="75" name="Shape 55"/>
          <p:cNvSpPr/>
          <p:nvPr/>
        </p:nvSpPr>
        <p:spPr>
          <a:xfrm>
            <a:off x="4005072" y="2093976"/>
            <a:ext cx="0" cy="128016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76" name="Shape 56"/>
          <p:cNvSpPr/>
          <p:nvPr/>
        </p:nvSpPr>
        <p:spPr>
          <a:xfrm>
            <a:off x="3922776" y="2093976"/>
            <a:ext cx="8229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77" name="Shape 57"/>
          <p:cNvSpPr/>
          <p:nvPr/>
        </p:nvSpPr>
        <p:spPr>
          <a:xfrm>
            <a:off x="3922776" y="2350008"/>
            <a:ext cx="8229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78" name="Shape 58"/>
          <p:cNvSpPr/>
          <p:nvPr/>
        </p:nvSpPr>
        <p:spPr>
          <a:xfrm>
            <a:off x="3922776" y="2606040"/>
            <a:ext cx="8229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79" name="Shape 59"/>
          <p:cNvSpPr/>
          <p:nvPr/>
        </p:nvSpPr>
        <p:spPr>
          <a:xfrm>
            <a:off x="3922776" y="2862072"/>
            <a:ext cx="8229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80" name="Shape 60"/>
          <p:cNvSpPr/>
          <p:nvPr/>
        </p:nvSpPr>
        <p:spPr>
          <a:xfrm>
            <a:off x="3922776" y="3118104"/>
            <a:ext cx="8229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81" name="Shape 61"/>
          <p:cNvSpPr/>
          <p:nvPr/>
        </p:nvSpPr>
        <p:spPr>
          <a:xfrm>
            <a:off x="3922776" y="3374136"/>
            <a:ext cx="8229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82" name="Shape 62"/>
          <p:cNvSpPr/>
          <p:nvPr/>
        </p:nvSpPr>
        <p:spPr>
          <a:xfrm>
            <a:off x="5138928" y="2093976"/>
            <a:ext cx="0" cy="768096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83" name="Shape 63"/>
          <p:cNvSpPr/>
          <p:nvPr/>
        </p:nvSpPr>
        <p:spPr>
          <a:xfrm>
            <a:off x="5138928" y="2093976"/>
            <a:ext cx="8229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84" name="Shape 64"/>
          <p:cNvSpPr/>
          <p:nvPr/>
        </p:nvSpPr>
        <p:spPr>
          <a:xfrm>
            <a:off x="5138928" y="2350008"/>
            <a:ext cx="8229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85" name="Shape 65"/>
          <p:cNvSpPr/>
          <p:nvPr/>
        </p:nvSpPr>
        <p:spPr>
          <a:xfrm>
            <a:off x="5138928" y="2606040"/>
            <a:ext cx="8229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86" name="Shape 66"/>
          <p:cNvSpPr/>
          <p:nvPr/>
        </p:nvSpPr>
        <p:spPr>
          <a:xfrm>
            <a:off x="5138928" y="2862072"/>
            <a:ext cx="82296" cy="0"/>
          </a:xfrm>
          <a:prstGeom prst="line">
            <a:avLst/>
          </a:prstGeom>
          <a:noFill/>
          <a:ln w="9525">
            <a:solidFill>
              <a:srgbClr val="B8C0C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945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 and Signal">
  <a:themeElements>
    <a:clrScheme name="Slate and Signal">
      <a:dk1>
        <a:srgbClr val="1F2A37"/>
      </a:dk1>
      <a:lt1>
        <a:srgbClr val="FFFFFF"/>
      </a:lt1>
      <a:dk2>
        <a:srgbClr val="4E5866"/>
      </a:dk2>
      <a:lt2>
        <a:srgbClr val="F5F7F9"/>
      </a:lt2>
      <a:accent1>
        <a:srgbClr val="009999"/>
      </a:accent1>
      <a:accent2>
        <a:srgbClr val="4C5FD5"/>
      </a:accent2>
      <a:accent3>
        <a:srgbClr val="D8702E"/>
      </a:accent3>
      <a:accent4>
        <a:srgbClr val="B8478A"/>
      </a:accent4>
      <a:accent5>
        <a:srgbClr val="8A5A3B"/>
      </a:accent5>
      <a:accent6>
        <a:srgbClr val="3F8FCB"/>
      </a:accent6>
      <a:hlink>
        <a:srgbClr val="007A7A"/>
      </a:hlink>
      <a:folHlink>
        <a:srgbClr val="4E5866"/>
      </a:folHlink>
    </a:clrScheme>
    <a:fontScheme name="Slate and Signal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Rebuilding match physical insight after relegation</dc:title>
  <dc:subject>PptxGenJS Presentation</dc:subject>
  <dc:creator>Michael Davies</dc:creator>
  <cp:lastModifiedBy>Michael Davies</cp:lastModifiedBy>
  <cp:revision>1</cp:revision>
  <dcterms:created xsi:type="dcterms:W3CDTF">2026-10-15T17:55:14Z</dcterms:created>
  <dcterms:modified xsi:type="dcterms:W3CDTF">2026-10-15T17:55:14Z</dcterms:modified>
</cp:coreProperties>
</file>